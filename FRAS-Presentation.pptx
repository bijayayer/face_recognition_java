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Tests</c:v>
                </c:pt>
              </c:strCache>
            </c:strRef>
          </c:tx>
          <c:spPr>
            <a:solidFill>
              <a:srgbClr val="0A0A0A"/>
            </a:solidFill>
            <a:ln>
              <a:noFill/>
            </a:ln>
          </c:spPr>
          <c:cat>
            <c:strRef>
              <c:f>Sheet1!$A$2:$A$7</c:f>
              <c:strCache>
                <c:ptCount val="6"/>
                <c:pt idx="0">
                  <c:v>SchemaConstraintRepair</c:v>
                </c:pt>
                <c:pt idx="1">
                  <c:v>TimetableBooking</c:v>
                </c:pt>
                <c:pt idx="2">
                  <c:v>RosterAccess</c:v>
                </c:pt>
                <c:pt idx="3">
                  <c:v>AttendanceAccess</c:v>
                </c:pt>
                <c:pt idx="4">
                  <c:v>DeleteRefusal</c:v>
                </c:pt>
                <c:pt idx="5">
                  <c:v>AuthEndpoints</c:v>
                </c:pt>
              </c:strCache>
            </c:strRef>
          </c:cat>
          <c:val>
            <c:numRef>
              <c:f>Sheet1!$B$2:$B$7</c:f>
              <c:numCache>
                <c:formatCode>General</c:formatCode>
                <c:ptCount val="6"/>
                <c:pt idx="0">
                  <c:v>3</c:v>
                </c:pt>
                <c:pt idx="1">
                  <c:v>7</c:v>
                </c:pt>
                <c:pt idx="2">
                  <c:v>8</c:v>
                </c:pt>
                <c:pt idx="3">
                  <c:v>9</c:v>
                </c:pt>
                <c:pt idx="4">
                  <c:v>10</c:v>
                </c:pt>
                <c:pt idx="5">
                  <c:v>15</c:v>
                </c:pt>
              </c:numCache>
            </c:numRef>
          </c:val>
        </c:ser>
        <c:dLbls>
          <c:numFmt formatCode="0" sourceLinked="0"/>
          <c:txPr>
            <a:bodyPr/>
            <a:lstStyle/>
            <a:p>
              <a:pPr>
                <a:defRPr sz="1100" b="1">
                  <a:solidFill>
                    <a:srgbClr val="0A0A0A"/>
                  </a:solidFill>
                  <a:latin typeface="Courier New"/>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solidFill>
              <a:srgbClr val="DEDEDE"/>
            </a:solidFill>
          </a:ln>
        </c:spPr>
        <c:txPr>
          <a:bodyPr/>
          <a:lstStyle/>
          <a:p>
            <a:pPr>
              <a:defRPr sz="1050">
                <a:solidFill>
                  <a:srgbClr val="444444"/>
                </a:solidFill>
                <a:latin typeface="Calibri"/>
              </a:defRPr>
            </a:pPr>
          </a:p>
        </c:txPr>
        <c:crossAx val="-2113994440"/>
        <c:crosses val="autoZero"/>
        <c:auto val="1"/>
        <c:lblAlgn val="ctr"/>
        <c:lblOffset val="100"/>
        <c:noMultiLvlLbl val="0"/>
      </c:catAx>
      <c:valAx>
        <c:axId val="-2113994440"/>
        <c:scaling>
          <c:max val="17.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FRAS records attendance from a recognised face instead of a roll call. It is a JavaFX desktop client on a Spring Boot server, one Maven tree, two programs that both have to be running. 146 Java sources, 52 integration tests.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not recognising a face. It is producing a record that can be counted, exported and defended afterwards - which is why most of the work in this project is in the data rules, not the camera.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Maven tree, two programs. mvn spring-boot:run starts the backend on 8080; mvn javafx:run starts the window. Both must be running - the client has no Spring context of its own and reaches the server over HTTP at FRAS_API_URL, default http://localhost:8080.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version is pinned rather than left to a range, so a build a year from now resolves the same tree. Nothing here is a preview or a snapshot release.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and recognition are two different models. YuNet finds faces and gives five landmarks; alignCrop uses those landmarks so that both enrolment and matching see the same normalised 112x112 face; SFace turns it into a vector. The match threshold is OpenCV's published 0.363 for SFace.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defect worth talking about in a viva. It was not a logic error the compiler or a test could see - it was native memory freed while another thread was inside a native call on it, and the only evidence was two hs_err_pid crash files.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are ADMIN, TEACHER and STUDENT. Entries a role cannot use are left out of the navigation rail rather than shown disabled, so no screen offers something that would be refused on arrival.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were absent from an earlier five-bug review that reported zero defects remaining. Both are authorisation faults rather than coding errors: the code did exactly what it said, and what it said was wrong.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 beside each row is the same convention the application uses for attendance: a solid square is the worst case, an outline is middling, a pale square is the mildest. No colour, so it survives a photocopier and a projector.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student ID stayed on screen deliberately - it is also the folder a face is enrolled under, and the number the Enrol screen asks for. The exported register changed with it: it used to be four counts and a comma-separated list of absent IDs, and is now one line per student.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rises with fill weight rather than with hue, so the ramp still works in greyscale, on a projector, and for a colour-blind reader. The same three weights mark the findings on the data-integrity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tests across six suites under src/test/java/com/fras/test. Every asserted status code and message fragment was read out of the throw sites rather than assumed. Be honest in the viva about the last point: the tests were written and checked structurally, and the machine they were written on could not compile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Naming these is deliberate. A project that reports zero remaining defects is either finished or not looking, and four documents in the repository root already made that claim once and were wrong.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two commands. If a question comes about what is not yet proven: the tests and the source have been checked structurally, and a real mvn test run on a machine with Java 21 and Maven is the next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cxnSp>
        <p:nvCxnSpPr>
          <p:cNvPr id="2" name="Connector 1"/>
          <p:cNvCxnSpPr/>
          <p:nvPr/>
        </p:nvCxnSpPr>
        <p:spPr>
          <a:xfrm>
            <a:off x="960120" y="1298448"/>
            <a:ext cx="402336"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60120" y="1298448"/>
            <a:ext cx="0" cy="402336"/>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60120" y="4462272"/>
            <a:ext cx="402336"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60120" y="4059935"/>
            <a:ext cx="0" cy="402337"/>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826496" y="1298448"/>
            <a:ext cx="402336"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228832" y="1298448"/>
            <a:ext cx="0" cy="402336"/>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0826496" y="4462272"/>
            <a:ext cx="402336" cy="0"/>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228832" y="4059935"/>
            <a:ext cx="0" cy="402337"/>
          </a:xfrm>
          <a:prstGeom prst="line">
            <a:avLst/>
          </a:prstGeom>
          <a:ln w="22225">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17320" y="1609344"/>
            <a:ext cx="6400800" cy="1280160"/>
          </a:xfrm>
          <a:prstGeom prst="rect">
            <a:avLst/>
          </a:prstGeom>
          <a:noFill/>
        </p:spPr>
        <p:txBody>
          <a:bodyPr wrap="square" lIns="0" rIns="0" tIns="0" bIns="0" anchor="t">
            <a:spAutoFit/>
          </a:bodyPr>
          <a:lstStyle/>
          <a:p>
            <a:pPr algn="l">
              <a:spcAft>
                <a:spcPts val="0"/>
              </a:spcAft>
            </a:pPr>
            <a:r>
              <a:rPr sz="9600" b="0" spc="1000">
                <a:solidFill>
                  <a:srgbClr val="FFFFFF"/>
                </a:solidFill>
                <a:latin typeface="Century Schoolbook"/>
              </a:rPr>
              <a:t>FRAS</a:t>
            </a:r>
          </a:p>
        </p:txBody>
      </p:sp>
      <p:cxnSp>
        <p:nvCxnSpPr>
          <p:cNvPr id="11" name="Connector 10"/>
          <p:cNvCxnSpPr/>
          <p:nvPr/>
        </p:nvCxnSpPr>
        <p:spPr>
          <a:xfrm>
            <a:off x="1463040" y="3054096"/>
            <a:ext cx="4846320"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417320" y="3255264"/>
            <a:ext cx="8229600" cy="457200"/>
          </a:xfrm>
          <a:prstGeom prst="rect">
            <a:avLst/>
          </a:prstGeom>
          <a:noFill/>
        </p:spPr>
        <p:txBody>
          <a:bodyPr wrap="square" lIns="0" rIns="0" tIns="0" bIns="0" anchor="t">
            <a:spAutoFit/>
          </a:bodyPr>
          <a:lstStyle/>
          <a:p>
            <a:pPr algn="l">
              <a:spcAft>
                <a:spcPts val="0"/>
              </a:spcAft>
            </a:pPr>
            <a:r>
              <a:rPr sz="2700" b="0">
                <a:solidFill>
                  <a:srgbClr val="FFFFFF"/>
                </a:solidFill>
                <a:latin typeface="Century Schoolbook"/>
              </a:rPr>
              <a:t>Face Recognition Attendance System</a:t>
            </a:r>
          </a:p>
        </p:txBody>
      </p:sp>
      <p:sp>
        <p:nvSpPr>
          <p:cNvPr id="13" name="TextBox 12"/>
          <p:cNvSpPr txBox="1"/>
          <p:nvPr/>
        </p:nvSpPr>
        <p:spPr>
          <a:xfrm>
            <a:off x="1444752" y="3895344"/>
            <a:ext cx="8229600" cy="320040"/>
          </a:xfrm>
          <a:prstGeom prst="rect">
            <a:avLst/>
          </a:prstGeom>
          <a:noFill/>
        </p:spPr>
        <p:txBody>
          <a:bodyPr wrap="square" lIns="0" rIns="0" tIns="0" bIns="0" anchor="t">
            <a:spAutoFit/>
          </a:bodyPr>
          <a:lstStyle/>
          <a:p>
            <a:pPr algn="l">
              <a:spcAft>
                <a:spcPts val="0"/>
              </a:spcAft>
            </a:pPr>
            <a:r>
              <a:rPr sz="1150" b="0" spc="50">
                <a:solidFill>
                  <a:srgbClr val="8A8A8A"/>
                </a:solidFill>
                <a:latin typeface="Courier New"/>
              </a:rPr>
              <a:t>Marks a register from a face, not from a roll call.</a:t>
            </a:r>
          </a:p>
        </p:txBody>
      </p:sp>
      <p:sp>
        <p:nvSpPr>
          <p:cNvPr id="14" name="TextBox 13"/>
          <p:cNvSpPr txBox="1"/>
          <p:nvPr/>
        </p:nvSpPr>
        <p:spPr>
          <a:xfrm>
            <a:off x="960120" y="4919472"/>
            <a:ext cx="3108960" cy="713232"/>
          </a:xfrm>
          <a:prstGeom prst="rect">
            <a:avLst/>
          </a:prstGeom>
          <a:noFill/>
        </p:spPr>
        <p:txBody>
          <a:bodyPr wrap="square" lIns="0" rIns="0" tIns="0" bIns="0" anchor="t">
            <a:spAutoFit/>
          </a:bodyPr>
          <a:lstStyle/>
          <a:p>
            <a:pPr algn="l">
              <a:spcAft>
                <a:spcPts val="0"/>
              </a:spcAft>
            </a:pPr>
            <a:r>
              <a:rPr sz="4000" b="0">
                <a:solidFill>
                  <a:srgbClr val="FFFFFF"/>
                </a:solidFill>
                <a:latin typeface="Century Schoolbook"/>
              </a:rPr>
              <a:t>146</a:t>
            </a:r>
          </a:p>
        </p:txBody>
      </p:sp>
      <p:sp>
        <p:nvSpPr>
          <p:cNvPr id="15" name="TextBox 14"/>
          <p:cNvSpPr txBox="1"/>
          <p:nvPr/>
        </p:nvSpPr>
        <p:spPr>
          <a:xfrm>
            <a:off x="960120" y="5687568"/>
            <a:ext cx="3108960" cy="457200"/>
          </a:xfrm>
          <a:prstGeom prst="rect">
            <a:avLst/>
          </a:prstGeom>
          <a:noFill/>
        </p:spPr>
        <p:txBody>
          <a:bodyPr wrap="square" lIns="0" rIns="0" tIns="0" bIns="0" anchor="t">
            <a:spAutoFit/>
          </a:bodyPr>
          <a:lstStyle/>
          <a:p>
            <a:pPr algn="l">
              <a:lnSpc>
                <a:spcPct val="125000"/>
              </a:lnSpc>
              <a:spcAft>
                <a:spcPts val="0"/>
              </a:spcAft>
            </a:pPr>
            <a:r>
              <a:rPr sz="950" b="0" spc="80">
                <a:solidFill>
                  <a:srgbClr val="8A8A8A"/>
                </a:solidFill>
                <a:latin typeface="Courier New"/>
              </a:rPr>
              <a:t>JAVA SOURCES</a:t>
            </a:r>
          </a:p>
        </p:txBody>
      </p:sp>
      <p:sp>
        <p:nvSpPr>
          <p:cNvPr id="16" name="TextBox 15"/>
          <p:cNvSpPr txBox="1"/>
          <p:nvPr/>
        </p:nvSpPr>
        <p:spPr>
          <a:xfrm>
            <a:off x="4434840" y="4919472"/>
            <a:ext cx="3108960" cy="713232"/>
          </a:xfrm>
          <a:prstGeom prst="rect">
            <a:avLst/>
          </a:prstGeom>
          <a:noFill/>
        </p:spPr>
        <p:txBody>
          <a:bodyPr wrap="square" lIns="0" rIns="0" tIns="0" bIns="0" anchor="t">
            <a:spAutoFit/>
          </a:bodyPr>
          <a:lstStyle/>
          <a:p>
            <a:pPr algn="l">
              <a:spcAft>
                <a:spcPts val="0"/>
              </a:spcAft>
            </a:pPr>
            <a:r>
              <a:rPr sz="4000" b="0">
                <a:solidFill>
                  <a:srgbClr val="FFFFFF"/>
                </a:solidFill>
                <a:latin typeface="Century Schoolbook"/>
              </a:rPr>
              <a:t>52</a:t>
            </a:r>
          </a:p>
        </p:txBody>
      </p:sp>
      <p:sp>
        <p:nvSpPr>
          <p:cNvPr id="17" name="TextBox 16"/>
          <p:cNvSpPr txBox="1"/>
          <p:nvPr/>
        </p:nvSpPr>
        <p:spPr>
          <a:xfrm>
            <a:off x="4434840" y="5687568"/>
            <a:ext cx="3108960" cy="457200"/>
          </a:xfrm>
          <a:prstGeom prst="rect">
            <a:avLst/>
          </a:prstGeom>
          <a:noFill/>
        </p:spPr>
        <p:txBody>
          <a:bodyPr wrap="square" lIns="0" rIns="0" tIns="0" bIns="0" anchor="t">
            <a:spAutoFit/>
          </a:bodyPr>
          <a:lstStyle/>
          <a:p>
            <a:pPr algn="l">
              <a:lnSpc>
                <a:spcPct val="125000"/>
              </a:lnSpc>
              <a:spcAft>
                <a:spcPts val="0"/>
              </a:spcAft>
            </a:pPr>
            <a:r>
              <a:rPr sz="950" b="0" spc="80">
                <a:solidFill>
                  <a:srgbClr val="8A8A8A"/>
                </a:solidFill>
                <a:latin typeface="Courier New"/>
              </a:rPr>
              <a:t>INTEGRATION TESTS</a:t>
            </a:r>
          </a:p>
        </p:txBody>
      </p:sp>
      <p:sp>
        <p:nvSpPr>
          <p:cNvPr id="18" name="TextBox 17"/>
          <p:cNvSpPr txBox="1"/>
          <p:nvPr/>
        </p:nvSpPr>
        <p:spPr>
          <a:xfrm>
            <a:off x="7909560" y="4919472"/>
            <a:ext cx="3291840" cy="713232"/>
          </a:xfrm>
          <a:prstGeom prst="rect">
            <a:avLst/>
          </a:prstGeom>
          <a:noFill/>
        </p:spPr>
        <p:txBody>
          <a:bodyPr wrap="square" lIns="0" rIns="0" tIns="0" bIns="0" anchor="t">
            <a:spAutoFit/>
          </a:bodyPr>
          <a:lstStyle/>
          <a:p>
            <a:pPr algn="l">
              <a:spcAft>
                <a:spcPts val="0"/>
              </a:spcAft>
            </a:pPr>
            <a:r>
              <a:rPr sz="4000" b="0">
                <a:solidFill>
                  <a:srgbClr val="FFFFFF"/>
                </a:solidFill>
                <a:latin typeface="Century Schoolbook"/>
              </a:rPr>
              <a:t>2</a:t>
            </a:r>
          </a:p>
        </p:txBody>
      </p:sp>
      <p:sp>
        <p:nvSpPr>
          <p:cNvPr id="19" name="TextBox 18"/>
          <p:cNvSpPr txBox="1"/>
          <p:nvPr/>
        </p:nvSpPr>
        <p:spPr>
          <a:xfrm>
            <a:off x="7909560" y="5687568"/>
            <a:ext cx="3291840" cy="457200"/>
          </a:xfrm>
          <a:prstGeom prst="rect">
            <a:avLst/>
          </a:prstGeom>
          <a:noFill/>
        </p:spPr>
        <p:txBody>
          <a:bodyPr wrap="square" lIns="0" rIns="0" tIns="0" bIns="0" anchor="t">
            <a:spAutoFit/>
          </a:bodyPr>
          <a:lstStyle/>
          <a:p>
            <a:pPr algn="l">
              <a:lnSpc>
                <a:spcPct val="125000"/>
              </a:lnSpc>
              <a:spcAft>
                <a:spcPts val="0"/>
              </a:spcAft>
            </a:pPr>
            <a:r>
              <a:rPr sz="950" b="0" spc="80">
                <a:solidFill>
                  <a:srgbClr val="8A8A8A"/>
                </a:solidFill>
                <a:latin typeface="Courier New"/>
              </a:rPr>
              <a:t>PROGRAMS, ONE TREE</a:t>
            </a:r>
          </a:p>
        </p:txBody>
      </p:sp>
      <p:sp>
        <p:nvSpPr>
          <p:cNvPr id="20" name="TextBox 19"/>
          <p:cNvSpPr txBox="1"/>
          <p:nvPr/>
        </p:nvSpPr>
        <p:spPr>
          <a:xfrm>
            <a:off x="960120" y="6327648"/>
            <a:ext cx="10332720" cy="274320"/>
          </a:xfrm>
          <a:prstGeom prst="rect">
            <a:avLst/>
          </a:prstGeom>
          <a:noFill/>
        </p:spPr>
        <p:txBody>
          <a:bodyPr wrap="square" lIns="0" rIns="0" tIns="0" bIns="0" anchor="t">
            <a:spAutoFit/>
          </a:bodyPr>
          <a:lstStyle/>
          <a:p>
            <a:pPr algn="l">
              <a:spcAft>
                <a:spcPts val="0"/>
              </a:spcAft>
            </a:pPr>
            <a:r>
              <a:rPr sz="950" b="0" spc="60">
                <a:solidFill>
                  <a:srgbClr val="8A8A8A"/>
                </a:solidFill>
                <a:latin typeface="Courier New"/>
              </a:rPr>
              <a:t>Java 21 / Maven / Spring Boot 3.5.5 / JavaFX 21.0.7 / OpenCV 4.9.0 / H2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01 / THE PROBLEM</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Attendance is a records problem</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2212848"/>
            <a:ext cx="5532120" cy="237744"/>
          </a:xfrm>
          <a:prstGeom prst="rect">
            <a:avLst/>
          </a:prstGeom>
          <a:noFill/>
        </p:spPr>
        <p:txBody>
          <a:bodyPr wrap="square" lIns="0" rIns="0" tIns="0" bIns="0" anchor="t">
            <a:spAutoFit/>
          </a:bodyPr>
          <a:lstStyle/>
          <a:p>
            <a:pPr algn="l">
              <a:spcAft>
                <a:spcPts val="0"/>
              </a:spcAft>
            </a:pPr>
            <a:r>
              <a:rPr sz="1100" b="0" spc="90">
                <a:solidFill>
                  <a:srgbClr val="0A0A0A"/>
                </a:solidFill>
                <a:latin typeface="Courier New"/>
              </a:rPr>
              <a:t>WHAT A ROLL CALL COSTS</a:t>
            </a:r>
          </a:p>
        </p:txBody>
      </p:sp>
      <p:sp>
        <p:nvSpPr>
          <p:cNvPr id="6" name="TextBox 5"/>
          <p:cNvSpPr txBox="1"/>
          <p:nvPr/>
        </p:nvSpPr>
        <p:spPr>
          <a:xfrm>
            <a:off x="777240" y="2487168"/>
            <a:ext cx="5532120" cy="2194560"/>
          </a:xfrm>
          <a:prstGeom prst="rect">
            <a:avLst/>
          </a:prstGeom>
          <a:noFill/>
        </p:spPr>
        <p:txBody>
          <a:bodyPr wrap="square" lIns="0" rIns="0" tIns="0" bIns="0" anchor="t">
            <a:spAutoFit/>
          </a:bodyPr>
          <a:lstStyle/>
          <a:p>
            <a:pPr algn="l">
              <a:lnSpc>
                <a:spcPct val="128000"/>
              </a:lnSpc>
              <a:spcAft>
                <a:spcPts val="500"/>
              </a:spcAft>
            </a:pPr>
            <a:r>
              <a:rPr sz="1250" b="0">
                <a:solidFill>
                  <a:srgbClr val="444444"/>
                </a:solidFill>
                <a:latin typeface="Calibri"/>
              </a:rPr>
              <a:t>Reading out a class list spends the first minutes of every lecture, and produces a mark on paper that nobody can query later.</a:t>
            </a:r>
          </a:p>
          <a:p>
            <a:pPr algn="l">
              <a:lnSpc>
                <a:spcPct val="128000"/>
              </a:lnSpc>
              <a:spcAft>
                <a:spcPts val="500"/>
              </a:spcAft>
            </a:pPr>
            <a:r>
              <a:rPr sz="1250" b="0">
                <a:solidFill>
                  <a:srgbClr val="444444"/>
                </a:solidFill>
                <a:latin typeface="Calibri"/>
              </a:rPr>
              <a:t>It is also trivially defeated: one voice can answer for an absent friend, and the register has no way to disagree.</a:t>
            </a:r>
          </a:p>
          <a:p>
            <a:pPr algn="l">
              <a:lnSpc>
                <a:spcPct val="128000"/>
              </a:lnSpc>
              <a:spcAft>
                <a:spcPts val="500"/>
              </a:spcAft>
            </a:pPr>
            <a:r>
              <a:rPr sz="1250" b="0">
                <a:solidFill>
                  <a:srgbClr val="444444"/>
                </a:solidFill>
                <a:latin typeface="Calibri"/>
              </a:rPr>
              <a:t>The record is the point, not the roll call. Attendance is worth taking only if it can later be counted, exported and defended.</a:t>
            </a:r>
          </a:p>
        </p:txBody>
      </p:sp>
      <p:sp>
        <p:nvSpPr>
          <p:cNvPr id="7" name="Rectangle 6"/>
          <p:cNvSpPr/>
          <p:nvPr/>
        </p:nvSpPr>
        <p:spPr>
          <a:xfrm>
            <a:off x="6903720" y="2212848"/>
            <a:ext cx="4507992" cy="324612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0" y="2542032"/>
            <a:ext cx="3657600" cy="365760"/>
          </a:xfrm>
          <a:prstGeom prst="rect">
            <a:avLst/>
          </a:prstGeom>
          <a:noFill/>
        </p:spPr>
        <p:txBody>
          <a:bodyPr wrap="square" lIns="0" rIns="0" tIns="0" bIns="0" anchor="t">
            <a:spAutoFit/>
          </a:bodyPr>
          <a:lstStyle/>
          <a:p>
            <a:pPr algn="l">
              <a:spcAft>
                <a:spcPts val="0"/>
              </a:spcAft>
            </a:pPr>
            <a:r>
              <a:rPr sz="1000" b="0" spc="100">
                <a:solidFill>
                  <a:srgbClr val="8A8A8A"/>
                </a:solidFill>
                <a:latin typeface="Courier New"/>
              </a:rPr>
              <a:t>WHAT THE SYSTEM DOES INSTEAD</a:t>
            </a:r>
          </a:p>
        </p:txBody>
      </p:sp>
      <p:sp>
        <p:nvSpPr>
          <p:cNvPr id="9" name="TextBox 8"/>
          <p:cNvSpPr txBox="1"/>
          <p:nvPr/>
        </p:nvSpPr>
        <p:spPr>
          <a:xfrm>
            <a:off x="7315200" y="3127248"/>
            <a:ext cx="1371600" cy="292608"/>
          </a:xfrm>
          <a:prstGeom prst="rect">
            <a:avLst/>
          </a:prstGeom>
          <a:noFill/>
        </p:spPr>
        <p:txBody>
          <a:bodyPr wrap="square" lIns="0" rIns="0" tIns="0" bIns="0" anchor="t">
            <a:spAutoFit/>
          </a:bodyPr>
          <a:lstStyle/>
          <a:p>
            <a:pPr algn="l">
              <a:spcAft>
                <a:spcPts val="0"/>
              </a:spcAft>
            </a:pPr>
            <a:r>
              <a:rPr sz="1700" b="0">
                <a:solidFill>
                  <a:srgbClr val="FFFFFF"/>
                </a:solidFill>
                <a:latin typeface="Century Schoolbook"/>
              </a:rPr>
              <a:t>DETECT</a:t>
            </a:r>
          </a:p>
        </p:txBody>
      </p:sp>
      <p:sp>
        <p:nvSpPr>
          <p:cNvPr id="10" name="TextBox 9"/>
          <p:cNvSpPr txBox="1"/>
          <p:nvPr/>
        </p:nvSpPr>
        <p:spPr>
          <a:xfrm>
            <a:off x="7315200" y="3419856"/>
            <a:ext cx="3749039" cy="292608"/>
          </a:xfrm>
          <a:prstGeom prst="rect">
            <a:avLst/>
          </a:prstGeom>
          <a:noFill/>
        </p:spPr>
        <p:txBody>
          <a:bodyPr wrap="square" lIns="0" rIns="0" tIns="0" bIns="0" anchor="t">
            <a:spAutoFit/>
          </a:bodyPr>
          <a:lstStyle/>
          <a:p>
            <a:pPr algn="l">
              <a:spcAft>
                <a:spcPts val="0"/>
              </a:spcAft>
            </a:pPr>
            <a:r>
              <a:rPr sz="1200" b="0">
                <a:solidFill>
                  <a:srgbClr val="8A8A8A"/>
                </a:solidFill>
                <a:latin typeface="Calibri"/>
              </a:rPr>
              <a:t>Find the faces in a live frame.</a:t>
            </a:r>
          </a:p>
        </p:txBody>
      </p:sp>
      <p:sp>
        <p:nvSpPr>
          <p:cNvPr id="11" name="TextBox 10"/>
          <p:cNvSpPr txBox="1"/>
          <p:nvPr/>
        </p:nvSpPr>
        <p:spPr>
          <a:xfrm>
            <a:off x="7315200" y="3840480"/>
            <a:ext cx="1371600" cy="292608"/>
          </a:xfrm>
          <a:prstGeom prst="rect">
            <a:avLst/>
          </a:prstGeom>
          <a:noFill/>
        </p:spPr>
        <p:txBody>
          <a:bodyPr wrap="square" lIns="0" rIns="0" tIns="0" bIns="0" anchor="t">
            <a:spAutoFit/>
          </a:bodyPr>
          <a:lstStyle/>
          <a:p>
            <a:pPr algn="l">
              <a:spcAft>
                <a:spcPts val="0"/>
              </a:spcAft>
            </a:pPr>
            <a:r>
              <a:rPr sz="1700" b="0">
                <a:solidFill>
                  <a:srgbClr val="FFFFFF"/>
                </a:solidFill>
                <a:latin typeface="Century Schoolbook"/>
              </a:rPr>
              <a:t>DECIDE</a:t>
            </a:r>
          </a:p>
        </p:txBody>
      </p:sp>
      <p:sp>
        <p:nvSpPr>
          <p:cNvPr id="12" name="TextBox 11"/>
          <p:cNvSpPr txBox="1"/>
          <p:nvPr/>
        </p:nvSpPr>
        <p:spPr>
          <a:xfrm>
            <a:off x="7315200" y="4133088"/>
            <a:ext cx="3749039" cy="292608"/>
          </a:xfrm>
          <a:prstGeom prst="rect">
            <a:avLst/>
          </a:prstGeom>
          <a:noFill/>
        </p:spPr>
        <p:txBody>
          <a:bodyPr wrap="square" lIns="0" rIns="0" tIns="0" bIns="0" anchor="t">
            <a:spAutoFit/>
          </a:bodyPr>
          <a:lstStyle/>
          <a:p>
            <a:pPr algn="l">
              <a:spcAft>
                <a:spcPts val="0"/>
              </a:spcAft>
            </a:pPr>
            <a:r>
              <a:rPr sz="1200" b="0">
                <a:solidFill>
                  <a:srgbClr val="8A8A8A"/>
                </a:solidFill>
                <a:latin typeface="Calibri"/>
              </a:rPr>
              <a:t>Say which student, or say nobody.</a:t>
            </a:r>
          </a:p>
        </p:txBody>
      </p:sp>
      <p:sp>
        <p:nvSpPr>
          <p:cNvPr id="13" name="TextBox 12"/>
          <p:cNvSpPr txBox="1"/>
          <p:nvPr/>
        </p:nvSpPr>
        <p:spPr>
          <a:xfrm>
            <a:off x="7315200" y="4553712"/>
            <a:ext cx="1371600" cy="292608"/>
          </a:xfrm>
          <a:prstGeom prst="rect">
            <a:avLst/>
          </a:prstGeom>
          <a:noFill/>
        </p:spPr>
        <p:txBody>
          <a:bodyPr wrap="square" lIns="0" rIns="0" tIns="0" bIns="0" anchor="t">
            <a:spAutoFit/>
          </a:bodyPr>
          <a:lstStyle/>
          <a:p>
            <a:pPr algn="l">
              <a:spcAft>
                <a:spcPts val="0"/>
              </a:spcAft>
            </a:pPr>
            <a:r>
              <a:rPr sz="1700" b="0">
                <a:solidFill>
                  <a:srgbClr val="FFFFFF"/>
                </a:solidFill>
                <a:latin typeface="Century Schoolbook"/>
              </a:rPr>
              <a:t>RECORD</a:t>
            </a:r>
          </a:p>
        </p:txBody>
      </p:sp>
      <p:sp>
        <p:nvSpPr>
          <p:cNvPr id="14" name="TextBox 13"/>
          <p:cNvSpPr txBox="1"/>
          <p:nvPr/>
        </p:nvSpPr>
        <p:spPr>
          <a:xfrm>
            <a:off x="7315200" y="4846320"/>
            <a:ext cx="3749039" cy="292608"/>
          </a:xfrm>
          <a:prstGeom prst="rect">
            <a:avLst/>
          </a:prstGeom>
          <a:noFill/>
        </p:spPr>
        <p:txBody>
          <a:bodyPr wrap="square" lIns="0" rIns="0" tIns="0" bIns="0" anchor="t">
            <a:spAutoFit/>
          </a:bodyPr>
          <a:lstStyle/>
          <a:p>
            <a:pPr algn="l">
              <a:spcAft>
                <a:spcPts val="0"/>
              </a:spcAft>
            </a:pPr>
            <a:r>
              <a:rPr sz="1200" b="0">
                <a:solidFill>
                  <a:srgbClr val="8A8A8A"/>
                </a:solidFill>
                <a:latin typeface="Calibri"/>
              </a:rPr>
              <a:t>Write one attendance row, once.</a:t>
            </a:r>
          </a:p>
        </p:txBody>
      </p:sp>
      <p:sp>
        <p:nvSpPr>
          <p:cNvPr id="15" name="TextBox 14"/>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02 / ARCHITECTURE</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Two programs from one tree</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286000"/>
            <a:ext cx="2926080" cy="1097280"/>
          </a:xfrm>
          <a:prstGeom prst="rect">
            <a:avLst/>
          </a:prstGeom>
          <a:solidFill>
            <a:srgbClr val="F2F2F2"/>
          </a:solidFill>
          <a:ln w="9525">
            <a:solidFill>
              <a:srgbClr val="DEDE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542032"/>
            <a:ext cx="2926080" cy="365760"/>
          </a:xfrm>
          <a:prstGeom prst="rect">
            <a:avLst/>
          </a:prstGeom>
          <a:noFill/>
        </p:spPr>
        <p:txBody>
          <a:bodyPr wrap="square" lIns="0" rIns="0" tIns="0" bIns="0" anchor="t">
            <a:spAutoFit/>
          </a:bodyPr>
          <a:lstStyle/>
          <a:p>
            <a:pPr algn="ctr">
              <a:spcAft>
                <a:spcPts val="0"/>
              </a:spcAft>
            </a:pPr>
            <a:r>
              <a:rPr sz="1900" b="0">
                <a:solidFill>
                  <a:srgbClr val="0A0A0A"/>
                </a:solidFill>
                <a:latin typeface="Century Schoolbook"/>
              </a:rPr>
              <a:t>Desktop client</a:t>
            </a:r>
          </a:p>
        </p:txBody>
      </p:sp>
      <p:sp>
        <p:nvSpPr>
          <p:cNvPr id="7" name="TextBox 6"/>
          <p:cNvSpPr txBox="1"/>
          <p:nvPr/>
        </p:nvSpPr>
        <p:spPr>
          <a:xfrm>
            <a:off x="777240" y="2944368"/>
            <a:ext cx="2926080" cy="274320"/>
          </a:xfrm>
          <a:prstGeom prst="rect">
            <a:avLst/>
          </a:prstGeom>
          <a:noFill/>
        </p:spPr>
        <p:txBody>
          <a:bodyPr wrap="square" lIns="0" rIns="0" tIns="0" bIns="0" anchor="t">
            <a:spAutoFit/>
          </a:bodyPr>
          <a:lstStyle/>
          <a:p>
            <a:pPr algn="ctr">
              <a:spcAft>
                <a:spcPts val="0"/>
              </a:spcAft>
            </a:pPr>
            <a:r>
              <a:rPr sz="900" b="0">
                <a:solidFill>
                  <a:srgbClr val="8A8A8A"/>
                </a:solidFill>
                <a:latin typeface="Courier New"/>
              </a:rPr>
              <a:t>com.fras</a:t>
            </a:r>
          </a:p>
        </p:txBody>
      </p:sp>
      <p:sp>
        <p:nvSpPr>
          <p:cNvPr id="8" name="TextBox 7"/>
          <p:cNvSpPr txBox="1"/>
          <p:nvPr/>
        </p:nvSpPr>
        <p:spPr>
          <a:xfrm>
            <a:off x="777240" y="3611880"/>
            <a:ext cx="2926080" cy="1005840"/>
          </a:xfrm>
          <a:prstGeom prst="rect">
            <a:avLst/>
          </a:prstGeom>
          <a:noFill/>
        </p:spPr>
        <p:txBody>
          <a:bodyPr wrap="square" lIns="0" rIns="0" tIns="0" bIns="0" anchor="t">
            <a:spAutoFit/>
          </a:bodyPr>
          <a:lstStyle/>
          <a:p>
            <a:pPr algn="l">
              <a:lnSpc>
                <a:spcPct val="126000"/>
              </a:lnSpc>
              <a:spcAft>
                <a:spcPts val="0"/>
              </a:spcAft>
            </a:pPr>
            <a:r>
              <a:rPr sz="1150" b="0">
                <a:solidFill>
                  <a:srgbClr val="444444"/>
                </a:solidFill>
                <a:latin typeface="Calibri"/>
              </a:rPr>
              <a:t>One Scene, an AppShell rail and a Page per screen. Holds no data of its own and speaks only HTTP.</a:t>
            </a:r>
          </a:p>
        </p:txBody>
      </p:sp>
      <p:sp>
        <p:nvSpPr>
          <p:cNvPr id="9" name="Rectangle 8"/>
          <p:cNvSpPr/>
          <p:nvPr/>
        </p:nvSpPr>
        <p:spPr>
          <a:xfrm>
            <a:off x="4617720" y="2286000"/>
            <a:ext cx="2926080" cy="10972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7720" y="2542032"/>
            <a:ext cx="2926080" cy="365760"/>
          </a:xfrm>
          <a:prstGeom prst="rect">
            <a:avLst/>
          </a:prstGeom>
          <a:noFill/>
        </p:spPr>
        <p:txBody>
          <a:bodyPr wrap="square" lIns="0" rIns="0" tIns="0" bIns="0" anchor="t">
            <a:spAutoFit/>
          </a:bodyPr>
          <a:lstStyle/>
          <a:p>
            <a:pPr algn="ctr">
              <a:spcAft>
                <a:spcPts val="0"/>
              </a:spcAft>
            </a:pPr>
            <a:r>
              <a:rPr sz="1900" b="0">
                <a:solidFill>
                  <a:srgbClr val="FFFFFF"/>
                </a:solidFill>
                <a:latin typeface="Century Schoolbook"/>
              </a:rPr>
              <a:t>Backend server</a:t>
            </a:r>
          </a:p>
        </p:txBody>
      </p:sp>
      <p:sp>
        <p:nvSpPr>
          <p:cNvPr id="11" name="TextBox 10"/>
          <p:cNvSpPr txBox="1"/>
          <p:nvPr/>
        </p:nvSpPr>
        <p:spPr>
          <a:xfrm>
            <a:off x="4617720" y="2944368"/>
            <a:ext cx="2926080" cy="274320"/>
          </a:xfrm>
          <a:prstGeom prst="rect">
            <a:avLst/>
          </a:prstGeom>
          <a:noFill/>
        </p:spPr>
        <p:txBody>
          <a:bodyPr wrap="square" lIns="0" rIns="0" tIns="0" bIns="0" anchor="t">
            <a:spAutoFit/>
          </a:bodyPr>
          <a:lstStyle/>
          <a:p>
            <a:pPr algn="ctr">
              <a:spcAft>
                <a:spcPts val="0"/>
              </a:spcAft>
            </a:pPr>
            <a:r>
              <a:rPr sz="900" b="0">
                <a:solidFill>
                  <a:srgbClr val="8A8A8A"/>
                </a:solidFill>
                <a:latin typeface="Courier New"/>
              </a:rPr>
              <a:t>com.school + com.attendance</a:t>
            </a:r>
          </a:p>
        </p:txBody>
      </p:sp>
      <p:sp>
        <p:nvSpPr>
          <p:cNvPr id="12" name="TextBox 11"/>
          <p:cNvSpPr txBox="1"/>
          <p:nvPr/>
        </p:nvSpPr>
        <p:spPr>
          <a:xfrm>
            <a:off x="4617720" y="3611880"/>
            <a:ext cx="2926080" cy="1005840"/>
          </a:xfrm>
          <a:prstGeom prst="rect">
            <a:avLst/>
          </a:prstGeom>
          <a:noFill/>
        </p:spPr>
        <p:txBody>
          <a:bodyPr wrap="square" lIns="0" rIns="0" tIns="0" bIns="0" anchor="t">
            <a:spAutoFit/>
          </a:bodyPr>
          <a:lstStyle/>
          <a:p>
            <a:pPr algn="l">
              <a:lnSpc>
                <a:spcPct val="126000"/>
              </a:lnSpc>
              <a:spcAft>
                <a:spcPts val="0"/>
              </a:spcAft>
            </a:pPr>
            <a:r>
              <a:rPr sz="1150" b="0">
                <a:solidFill>
                  <a:srgbClr val="444444"/>
                </a:solidFill>
                <a:latin typeface="Calibri"/>
              </a:rPr>
              <a:t>REST on port 8080. Every rule that matters - roles, JWTs, the refusals - is enforced here, not in the client.</a:t>
            </a:r>
          </a:p>
        </p:txBody>
      </p:sp>
      <p:sp>
        <p:nvSpPr>
          <p:cNvPr id="13" name="Rectangle 12"/>
          <p:cNvSpPr/>
          <p:nvPr/>
        </p:nvSpPr>
        <p:spPr>
          <a:xfrm>
            <a:off x="8458200" y="2286000"/>
            <a:ext cx="2926080" cy="1097280"/>
          </a:xfrm>
          <a:prstGeom prst="rect">
            <a:avLst/>
          </a:prstGeom>
          <a:solidFill>
            <a:srgbClr val="F2F2F2"/>
          </a:solidFill>
          <a:ln w="9525">
            <a:solidFill>
              <a:srgbClr val="DEDE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58200" y="2542032"/>
            <a:ext cx="2926080" cy="365760"/>
          </a:xfrm>
          <a:prstGeom prst="rect">
            <a:avLst/>
          </a:prstGeom>
          <a:noFill/>
        </p:spPr>
        <p:txBody>
          <a:bodyPr wrap="square" lIns="0" rIns="0" tIns="0" bIns="0" anchor="t">
            <a:spAutoFit/>
          </a:bodyPr>
          <a:lstStyle/>
          <a:p>
            <a:pPr algn="ctr">
              <a:spcAft>
                <a:spcPts val="0"/>
              </a:spcAft>
            </a:pPr>
            <a:r>
              <a:rPr sz="1900" b="0">
                <a:solidFill>
                  <a:srgbClr val="0A0A0A"/>
                </a:solidFill>
                <a:latin typeface="Century Schoolbook"/>
              </a:rPr>
              <a:t>H2 database</a:t>
            </a:r>
          </a:p>
        </p:txBody>
      </p:sp>
      <p:sp>
        <p:nvSpPr>
          <p:cNvPr id="15" name="TextBox 14"/>
          <p:cNvSpPr txBox="1"/>
          <p:nvPr/>
        </p:nvSpPr>
        <p:spPr>
          <a:xfrm>
            <a:off x="8458200" y="2944368"/>
            <a:ext cx="2926080" cy="274320"/>
          </a:xfrm>
          <a:prstGeom prst="rect">
            <a:avLst/>
          </a:prstGeom>
          <a:noFill/>
        </p:spPr>
        <p:txBody>
          <a:bodyPr wrap="square" lIns="0" rIns="0" tIns="0" bIns="0" anchor="t">
            <a:spAutoFit/>
          </a:bodyPr>
          <a:lstStyle/>
          <a:p>
            <a:pPr algn="ctr">
              <a:spcAft>
                <a:spcPts val="0"/>
              </a:spcAft>
            </a:pPr>
            <a:r>
              <a:rPr sz="900" b="0">
                <a:solidFill>
                  <a:srgbClr val="8A8A8A"/>
                </a:solidFill>
                <a:latin typeface="Courier New"/>
              </a:rPr>
              <a:t>./data/school_db</a:t>
            </a:r>
          </a:p>
        </p:txBody>
      </p:sp>
      <p:sp>
        <p:nvSpPr>
          <p:cNvPr id="16" name="TextBox 15"/>
          <p:cNvSpPr txBox="1"/>
          <p:nvPr/>
        </p:nvSpPr>
        <p:spPr>
          <a:xfrm>
            <a:off x="8458200" y="3611880"/>
            <a:ext cx="2926080" cy="1005840"/>
          </a:xfrm>
          <a:prstGeom prst="rect">
            <a:avLst/>
          </a:prstGeom>
          <a:noFill/>
        </p:spPr>
        <p:txBody>
          <a:bodyPr wrap="square" lIns="0" rIns="0" tIns="0" bIns="0" anchor="t">
            <a:spAutoFit/>
          </a:bodyPr>
          <a:lstStyle/>
          <a:p>
            <a:pPr algn="l">
              <a:lnSpc>
                <a:spcPct val="126000"/>
              </a:lnSpc>
              <a:spcAft>
                <a:spcPts val="0"/>
              </a:spcAft>
            </a:pPr>
            <a:r>
              <a:rPr sz="1150" b="0">
                <a:solidFill>
                  <a:srgbClr val="444444"/>
                </a:solidFill>
                <a:latin typeface="Calibri"/>
              </a:rPr>
              <a:t>File mode, MySQL dialect, schema managed by Hibernate. One file beside the project.</a:t>
            </a:r>
          </a:p>
        </p:txBody>
      </p:sp>
      <p:sp>
        <p:nvSpPr>
          <p:cNvPr id="17" name="TextBox 16"/>
          <p:cNvSpPr txBox="1"/>
          <p:nvPr/>
        </p:nvSpPr>
        <p:spPr>
          <a:xfrm>
            <a:off x="3703320" y="2432304"/>
            <a:ext cx="914400" cy="384048"/>
          </a:xfrm>
          <a:prstGeom prst="rect">
            <a:avLst/>
          </a:prstGeom>
          <a:noFill/>
        </p:spPr>
        <p:txBody>
          <a:bodyPr wrap="square" lIns="0" rIns="0" tIns="0" bIns="0" anchor="t">
            <a:spAutoFit/>
          </a:bodyPr>
          <a:lstStyle/>
          <a:p>
            <a:pPr algn="ctr">
              <a:spcAft>
                <a:spcPts val="0"/>
              </a:spcAft>
            </a:pPr>
            <a:r>
              <a:rPr sz="850" b="0">
                <a:solidFill>
                  <a:srgbClr val="8A8A8A"/>
                </a:solidFill>
                <a:latin typeface="Courier New"/>
              </a:rPr>
              <a:t>HTTP</a:t>
            </a:r>
          </a:p>
          <a:p>
            <a:pPr algn="ctr">
              <a:spcAft>
                <a:spcPts val="0"/>
              </a:spcAft>
            </a:pPr>
            <a:r>
              <a:rPr sz="850" b="0">
                <a:solidFill>
                  <a:srgbClr val="8A8A8A"/>
                </a:solidFill>
                <a:latin typeface="Courier New"/>
              </a:rPr>
              <a:t>:8080</a:t>
            </a:r>
          </a:p>
        </p:txBody>
      </p:sp>
      <p:cxnSp>
        <p:nvCxnSpPr>
          <p:cNvPr id="18" name="Connector 17"/>
          <p:cNvCxnSpPr/>
          <p:nvPr/>
        </p:nvCxnSpPr>
        <p:spPr>
          <a:xfrm>
            <a:off x="3758183" y="2834640"/>
            <a:ext cx="804673" cy="0"/>
          </a:xfrm>
          <a:prstGeom prst="line">
            <a:avLst/>
          </a:prstGeom>
          <a:ln w="12700">
            <a:solidFill>
              <a:srgbClr val="4444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543800" y="2432304"/>
            <a:ext cx="914400" cy="384048"/>
          </a:xfrm>
          <a:prstGeom prst="rect">
            <a:avLst/>
          </a:prstGeom>
          <a:noFill/>
        </p:spPr>
        <p:txBody>
          <a:bodyPr wrap="square" lIns="0" rIns="0" tIns="0" bIns="0" anchor="t">
            <a:spAutoFit/>
          </a:bodyPr>
          <a:lstStyle/>
          <a:p>
            <a:pPr algn="ctr">
              <a:spcAft>
                <a:spcPts val="0"/>
              </a:spcAft>
            </a:pPr>
            <a:r>
              <a:rPr sz="850" b="0">
                <a:solidFill>
                  <a:srgbClr val="8A8A8A"/>
                </a:solidFill>
                <a:latin typeface="Courier New"/>
              </a:rPr>
              <a:t>JPA</a:t>
            </a:r>
          </a:p>
          <a:p>
            <a:pPr algn="ctr">
              <a:spcAft>
                <a:spcPts val="0"/>
              </a:spcAft>
            </a:pPr>
            <a:r>
              <a:rPr sz="850" b="0">
                <a:solidFill>
                  <a:srgbClr val="8A8A8A"/>
                </a:solidFill>
                <a:latin typeface="Courier New"/>
              </a:rPr>
              <a:t>Hibernate</a:t>
            </a:r>
          </a:p>
        </p:txBody>
      </p:sp>
      <p:cxnSp>
        <p:nvCxnSpPr>
          <p:cNvPr id="20" name="Connector 19"/>
          <p:cNvCxnSpPr/>
          <p:nvPr/>
        </p:nvCxnSpPr>
        <p:spPr>
          <a:xfrm>
            <a:off x="7598664" y="2834640"/>
            <a:ext cx="804672" cy="0"/>
          </a:xfrm>
          <a:prstGeom prst="line">
            <a:avLst/>
          </a:prstGeom>
          <a:ln w="12700">
            <a:solidFill>
              <a:srgbClr val="4444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77240" y="4736592"/>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4956048"/>
            <a:ext cx="10607040" cy="237744"/>
          </a:xfrm>
          <a:prstGeom prst="rect">
            <a:avLst/>
          </a:prstGeom>
          <a:noFill/>
        </p:spPr>
        <p:txBody>
          <a:bodyPr wrap="square" lIns="0" rIns="0" tIns="0" bIns="0" anchor="t">
            <a:spAutoFit/>
          </a:bodyPr>
          <a:lstStyle/>
          <a:p>
            <a:pPr algn="l">
              <a:spcAft>
                <a:spcPts val="0"/>
              </a:spcAft>
            </a:pPr>
            <a:r>
              <a:rPr sz="1100" b="0" spc="90">
                <a:solidFill>
                  <a:srgbClr val="0A0A0A"/>
                </a:solidFill>
                <a:latin typeface="Courier New"/>
              </a:rPr>
              <a:t>AND ONE THING WORTH KNOWING BEFORE YOU READ THE SOURCE</a:t>
            </a:r>
          </a:p>
        </p:txBody>
      </p:sp>
      <p:sp>
        <p:nvSpPr>
          <p:cNvPr id="23" name="TextBox 22"/>
          <p:cNvSpPr txBox="1"/>
          <p:nvPr/>
        </p:nvSpPr>
        <p:spPr>
          <a:xfrm>
            <a:off x="777240" y="5230368"/>
            <a:ext cx="10607040" cy="2194560"/>
          </a:xfrm>
          <a:prstGeom prst="rect">
            <a:avLst/>
          </a:prstGeom>
          <a:noFill/>
        </p:spPr>
        <p:txBody>
          <a:bodyPr wrap="square" lIns="0" rIns="0" tIns="0" bIns="0" anchor="t">
            <a:spAutoFit/>
          </a:bodyPr>
          <a:lstStyle/>
          <a:p>
            <a:pPr algn="l">
              <a:lnSpc>
                <a:spcPct val="128000"/>
              </a:lnSpc>
              <a:spcAft>
                <a:spcPts val="500"/>
              </a:spcAft>
            </a:pPr>
            <a:r>
              <a:rPr sz="1250" b="0">
                <a:solidFill>
                  <a:srgbClr val="444444"/>
                </a:solidFill>
                <a:latin typeface="Calibri"/>
              </a:rPr>
              <a:t>There are three unrelated top-level packages, not one. com.fras is the desktop client and the face pipeline; com.attendance is the attendance domain and its Excel and PDF exports; com.school.school_management_system is authentication, security and the roster. A change often has to be made in the package you would not have guessed.</a:t>
            </a:r>
          </a:p>
        </p:txBody>
      </p:sp>
      <p:sp>
        <p:nvSpPr>
          <p:cNvPr id="24" name="TextBox 23"/>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03 / THE STACK</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Everything pinned, nothing guessed</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267712"/>
            <a:ext cx="2419273"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3271" y="2505456"/>
            <a:ext cx="1907209" cy="329184"/>
          </a:xfrm>
          <a:prstGeom prst="rect">
            <a:avLst/>
          </a:prstGeom>
          <a:noFill/>
        </p:spPr>
        <p:txBody>
          <a:bodyPr wrap="square" lIns="0" rIns="0" tIns="0" bIns="0" anchor="t">
            <a:spAutoFit/>
          </a:bodyPr>
          <a:lstStyle/>
          <a:p>
            <a:pPr algn="l">
              <a:spcAft>
                <a:spcPts val="0"/>
              </a:spcAft>
            </a:pPr>
            <a:r>
              <a:rPr sz="1700" b="0">
                <a:solidFill>
                  <a:srgbClr val="0A0A0A"/>
                </a:solidFill>
                <a:latin typeface="Century Schoolbook"/>
              </a:rPr>
              <a:t>Java</a:t>
            </a:r>
          </a:p>
        </p:txBody>
      </p:sp>
      <p:sp>
        <p:nvSpPr>
          <p:cNvPr id="7" name="TextBox 6"/>
          <p:cNvSpPr txBox="1"/>
          <p:nvPr/>
        </p:nvSpPr>
        <p:spPr>
          <a:xfrm>
            <a:off x="1033271" y="2871216"/>
            <a:ext cx="1907209" cy="256032"/>
          </a:xfrm>
          <a:prstGeom prst="rect">
            <a:avLst/>
          </a:prstGeom>
          <a:noFill/>
        </p:spPr>
        <p:txBody>
          <a:bodyPr wrap="square" lIns="0" rIns="0" tIns="0" bIns="0" anchor="t">
            <a:spAutoFit/>
          </a:bodyPr>
          <a:lstStyle/>
          <a:p>
            <a:pPr algn="l">
              <a:spcAft>
                <a:spcPts val="0"/>
              </a:spcAft>
            </a:pPr>
            <a:r>
              <a:rPr sz="1000" b="0" spc="60">
                <a:solidFill>
                  <a:srgbClr val="8A8A8A"/>
                </a:solidFill>
                <a:latin typeface="Courier New"/>
              </a:rPr>
              <a:t>21</a:t>
            </a:r>
          </a:p>
        </p:txBody>
      </p:sp>
      <p:sp>
        <p:nvSpPr>
          <p:cNvPr id="8" name="TextBox 7"/>
          <p:cNvSpPr txBox="1"/>
          <p:nvPr/>
        </p:nvSpPr>
        <p:spPr>
          <a:xfrm>
            <a:off x="1033271" y="3200400"/>
            <a:ext cx="1907209" cy="658368"/>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The level the whole tree compiles at, fixed by maven.compiler.release.</a:t>
            </a:r>
          </a:p>
        </p:txBody>
      </p:sp>
      <p:sp>
        <p:nvSpPr>
          <p:cNvPr id="9" name="Rectangle 8"/>
          <p:cNvSpPr/>
          <p:nvPr/>
        </p:nvSpPr>
        <p:spPr>
          <a:xfrm>
            <a:off x="3516553" y="2267712"/>
            <a:ext cx="2419273"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772585" y="2505456"/>
            <a:ext cx="1907209" cy="329184"/>
          </a:xfrm>
          <a:prstGeom prst="rect">
            <a:avLst/>
          </a:prstGeom>
          <a:noFill/>
        </p:spPr>
        <p:txBody>
          <a:bodyPr wrap="square" lIns="0" rIns="0" tIns="0" bIns="0" anchor="t">
            <a:spAutoFit/>
          </a:bodyPr>
          <a:lstStyle/>
          <a:p>
            <a:pPr algn="l">
              <a:spcAft>
                <a:spcPts val="0"/>
              </a:spcAft>
            </a:pPr>
            <a:r>
              <a:rPr sz="1700" b="0">
                <a:solidFill>
                  <a:srgbClr val="0A0A0A"/>
                </a:solidFill>
                <a:latin typeface="Century Schoolbook"/>
              </a:rPr>
              <a:t>Spring Boot</a:t>
            </a:r>
          </a:p>
        </p:txBody>
      </p:sp>
      <p:sp>
        <p:nvSpPr>
          <p:cNvPr id="11" name="TextBox 10"/>
          <p:cNvSpPr txBox="1"/>
          <p:nvPr/>
        </p:nvSpPr>
        <p:spPr>
          <a:xfrm>
            <a:off x="3772585" y="2871216"/>
            <a:ext cx="1907209" cy="256032"/>
          </a:xfrm>
          <a:prstGeom prst="rect">
            <a:avLst/>
          </a:prstGeom>
          <a:noFill/>
        </p:spPr>
        <p:txBody>
          <a:bodyPr wrap="square" lIns="0" rIns="0" tIns="0" bIns="0" anchor="t">
            <a:spAutoFit/>
          </a:bodyPr>
          <a:lstStyle/>
          <a:p>
            <a:pPr algn="l">
              <a:spcAft>
                <a:spcPts val="0"/>
              </a:spcAft>
            </a:pPr>
            <a:r>
              <a:rPr sz="1000" b="0" spc="60">
                <a:solidFill>
                  <a:srgbClr val="8A8A8A"/>
                </a:solidFill>
                <a:latin typeface="Courier New"/>
              </a:rPr>
              <a:t>3.5.5</a:t>
            </a:r>
          </a:p>
        </p:txBody>
      </p:sp>
      <p:sp>
        <p:nvSpPr>
          <p:cNvPr id="12" name="TextBox 11"/>
          <p:cNvSpPr txBox="1"/>
          <p:nvPr/>
        </p:nvSpPr>
        <p:spPr>
          <a:xfrm>
            <a:off x="3772585" y="3200400"/>
            <a:ext cx="1907209" cy="658368"/>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Web, Data JPA, Validation and Security. The server is little more than these four.</a:t>
            </a:r>
          </a:p>
        </p:txBody>
      </p:sp>
      <p:sp>
        <p:nvSpPr>
          <p:cNvPr id="13" name="Rectangle 12"/>
          <p:cNvSpPr/>
          <p:nvPr/>
        </p:nvSpPr>
        <p:spPr>
          <a:xfrm>
            <a:off x="6255867" y="2267712"/>
            <a:ext cx="2419273"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11899" y="2505456"/>
            <a:ext cx="1907209" cy="329184"/>
          </a:xfrm>
          <a:prstGeom prst="rect">
            <a:avLst/>
          </a:prstGeom>
          <a:noFill/>
        </p:spPr>
        <p:txBody>
          <a:bodyPr wrap="square" lIns="0" rIns="0" tIns="0" bIns="0" anchor="t">
            <a:spAutoFit/>
          </a:bodyPr>
          <a:lstStyle/>
          <a:p>
            <a:pPr algn="l">
              <a:spcAft>
                <a:spcPts val="0"/>
              </a:spcAft>
            </a:pPr>
            <a:r>
              <a:rPr sz="1700" b="0">
                <a:solidFill>
                  <a:srgbClr val="0A0A0A"/>
                </a:solidFill>
                <a:latin typeface="Century Schoolbook"/>
              </a:rPr>
              <a:t>JavaFX</a:t>
            </a:r>
          </a:p>
        </p:txBody>
      </p:sp>
      <p:sp>
        <p:nvSpPr>
          <p:cNvPr id="15" name="TextBox 14"/>
          <p:cNvSpPr txBox="1"/>
          <p:nvPr/>
        </p:nvSpPr>
        <p:spPr>
          <a:xfrm>
            <a:off x="6511899" y="2871216"/>
            <a:ext cx="1907209" cy="256032"/>
          </a:xfrm>
          <a:prstGeom prst="rect">
            <a:avLst/>
          </a:prstGeom>
          <a:noFill/>
        </p:spPr>
        <p:txBody>
          <a:bodyPr wrap="square" lIns="0" rIns="0" tIns="0" bIns="0" anchor="t">
            <a:spAutoFit/>
          </a:bodyPr>
          <a:lstStyle/>
          <a:p>
            <a:pPr algn="l">
              <a:spcAft>
                <a:spcPts val="0"/>
              </a:spcAft>
            </a:pPr>
            <a:r>
              <a:rPr sz="1000" b="0" spc="60">
                <a:solidFill>
                  <a:srgbClr val="8A8A8A"/>
                </a:solidFill>
                <a:latin typeface="Courier New"/>
              </a:rPr>
              <a:t>21.0.7</a:t>
            </a:r>
          </a:p>
        </p:txBody>
      </p:sp>
      <p:sp>
        <p:nvSpPr>
          <p:cNvPr id="16" name="TextBox 15"/>
          <p:cNvSpPr txBox="1"/>
          <p:nvPr/>
        </p:nvSpPr>
        <p:spPr>
          <a:xfrm>
            <a:off x="6511899" y="3200400"/>
            <a:ext cx="1907209" cy="658368"/>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The desktop client, launched by javafx-maven-plugin rather than the Spring one.</a:t>
            </a:r>
          </a:p>
        </p:txBody>
      </p:sp>
      <p:sp>
        <p:nvSpPr>
          <p:cNvPr id="17" name="Rectangle 16"/>
          <p:cNvSpPr/>
          <p:nvPr/>
        </p:nvSpPr>
        <p:spPr>
          <a:xfrm>
            <a:off x="8995181" y="2267712"/>
            <a:ext cx="2419273"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251213" y="2505456"/>
            <a:ext cx="1907209" cy="329184"/>
          </a:xfrm>
          <a:prstGeom prst="rect">
            <a:avLst/>
          </a:prstGeom>
          <a:noFill/>
        </p:spPr>
        <p:txBody>
          <a:bodyPr wrap="square" lIns="0" rIns="0" tIns="0" bIns="0" anchor="t">
            <a:spAutoFit/>
          </a:bodyPr>
          <a:lstStyle/>
          <a:p>
            <a:pPr algn="l">
              <a:spcAft>
                <a:spcPts val="0"/>
              </a:spcAft>
            </a:pPr>
            <a:r>
              <a:rPr sz="1700" b="0">
                <a:solidFill>
                  <a:srgbClr val="0A0A0A"/>
                </a:solidFill>
                <a:latin typeface="Century Schoolbook"/>
              </a:rPr>
              <a:t>OpenCV</a:t>
            </a:r>
          </a:p>
        </p:txBody>
      </p:sp>
      <p:sp>
        <p:nvSpPr>
          <p:cNvPr id="19" name="TextBox 18"/>
          <p:cNvSpPr txBox="1"/>
          <p:nvPr/>
        </p:nvSpPr>
        <p:spPr>
          <a:xfrm>
            <a:off x="9251213" y="2871216"/>
            <a:ext cx="1907209" cy="256032"/>
          </a:xfrm>
          <a:prstGeom prst="rect">
            <a:avLst/>
          </a:prstGeom>
          <a:noFill/>
        </p:spPr>
        <p:txBody>
          <a:bodyPr wrap="square" lIns="0" rIns="0" tIns="0" bIns="0" anchor="t">
            <a:spAutoFit/>
          </a:bodyPr>
          <a:lstStyle/>
          <a:p>
            <a:pPr algn="l">
              <a:spcAft>
                <a:spcPts val="0"/>
              </a:spcAft>
            </a:pPr>
            <a:r>
              <a:rPr sz="1000" b="0" spc="60">
                <a:solidFill>
                  <a:srgbClr val="8A8A8A"/>
                </a:solidFill>
                <a:latin typeface="Courier New"/>
              </a:rPr>
              <a:t>4.9.0-0</a:t>
            </a:r>
          </a:p>
        </p:txBody>
      </p:sp>
      <p:sp>
        <p:nvSpPr>
          <p:cNvPr id="20" name="TextBox 19"/>
          <p:cNvSpPr txBox="1"/>
          <p:nvPr/>
        </p:nvSpPr>
        <p:spPr>
          <a:xfrm>
            <a:off x="9251213" y="3200400"/>
            <a:ext cx="1907209" cy="658368"/>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Capture, detection and face embeddings, through the org.openpnp packaging.</a:t>
            </a:r>
          </a:p>
        </p:txBody>
      </p:sp>
      <p:sp>
        <p:nvSpPr>
          <p:cNvPr id="21" name="Rectangle 20"/>
          <p:cNvSpPr/>
          <p:nvPr/>
        </p:nvSpPr>
        <p:spPr>
          <a:xfrm>
            <a:off x="777240" y="4096512"/>
            <a:ext cx="2419273"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33271" y="4334256"/>
            <a:ext cx="1907209" cy="329184"/>
          </a:xfrm>
          <a:prstGeom prst="rect">
            <a:avLst/>
          </a:prstGeom>
          <a:noFill/>
        </p:spPr>
        <p:txBody>
          <a:bodyPr wrap="square" lIns="0" rIns="0" tIns="0" bIns="0" anchor="t">
            <a:spAutoFit/>
          </a:bodyPr>
          <a:lstStyle/>
          <a:p>
            <a:pPr algn="l">
              <a:spcAft>
                <a:spcPts val="0"/>
              </a:spcAft>
            </a:pPr>
            <a:r>
              <a:rPr sz="1700" b="0">
                <a:solidFill>
                  <a:srgbClr val="0A0A0A"/>
                </a:solidFill>
                <a:latin typeface="Century Schoolbook"/>
              </a:rPr>
              <a:t>H2</a:t>
            </a:r>
          </a:p>
        </p:txBody>
      </p:sp>
      <p:sp>
        <p:nvSpPr>
          <p:cNvPr id="23" name="TextBox 22"/>
          <p:cNvSpPr txBox="1"/>
          <p:nvPr/>
        </p:nvSpPr>
        <p:spPr>
          <a:xfrm>
            <a:off x="1033271" y="4700016"/>
            <a:ext cx="1907209" cy="256032"/>
          </a:xfrm>
          <a:prstGeom prst="rect">
            <a:avLst/>
          </a:prstGeom>
          <a:noFill/>
        </p:spPr>
        <p:txBody>
          <a:bodyPr wrap="square" lIns="0" rIns="0" tIns="0" bIns="0" anchor="t">
            <a:spAutoFit/>
          </a:bodyPr>
          <a:lstStyle/>
          <a:p>
            <a:pPr algn="l">
              <a:spcAft>
                <a:spcPts val="0"/>
              </a:spcAft>
            </a:pPr>
            <a:r>
              <a:rPr sz="1000" b="0" spc="60">
                <a:solidFill>
                  <a:srgbClr val="8A8A8A"/>
                </a:solidFill>
                <a:latin typeface="Courier New"/>
              </a:rPr>
              <a:t>file mode</a:t>
            </a:r>
          </a:p>
        </p:txBody>
      </p:sp>
      <p:sp>
        <p:nvSpPr>
          <p:cNvPr id="24" name="TextBox 23"/>
          <p:cNvSpPr txBox="1"/>
          <p:nvPr/>
        </p:nvSpPr>
        <p:spPr>
          <a:xfrm>
            <a:off x="1033271" y="5029200"/>
            <a:ext cx="1907209" cy="658368"/>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One file at ./data/school_db in MySQL mode. MySQL's own driver is on the path too.</a:t>
            </a:r>
          </a:p>
        </p:txBody>
      </p:sp>
      <p:sp>
        <p:nvSpPr>
          <p:cNvPr id="25" name="Rectangle 24"/>
          <p:cNvSpPr/>
          <p:nvPr/>
        </p:nvSpPr>
        <p:spPr>
          <a:xfrm>
            <a:off x="3516553" y="4096512"/>
            <a:ext cx="2419273"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772585" y="4334256"/>
            <a:ext cx="1907209" cy="329184"/>
          </a:xfrm>
          <a:prstGeom prst="rect">
            <a:avLst/>
          </a:prstGeom>
          <a:noFill/>
        </p:spPr>
        <p:txBody>
          <a:bodyPr wrap="square" lIns="0" rIns="0" tIns="0" bIns="0" anchor="t">
            <a:spAutoFit/>
          </a:bodyPr>
          <a:lstStyle/>
          <a:p>
            <a:pPr algn="l">
              <a:spcAft>
                <a:spcPts val="0"/>
              </a:spcAft>
            </a:pPr>
            <a:r>
              <a:rPr sz="1700" b="0">
                <a:solidFill>
                  <a:srgbClr val="0A0A0A"/>
                </a:solidFill>
                <a:latin typeface="Century Schoolbook"/>
              </a:rPr>
              <a:t>JJWT</a:t>
            </a:r>
          </a:p>
        </p:txBody>
      </p:sp>
      <p:sp>
        <p:nvSpPr>
          <p:cNvPr id="27" name="TextBox 26"/>
          <p:cNvSpPr txBox="1"/>
          <p:nvPr/>
        </p:nvSpPr>
        <p:spPr>
          <a:xfrm>
            <a:off x="3772585" y="4700016"/>
            <a:ext cx="1907209" cy="256032"/>
          </a:xfrm>
          <a:prstGeom prst="rect">
            <a:avLst/>
          </a:prstGeom>
          <a:noFill/>
        </p:spPr>
        <p:txBody>
          <a:bodyPr wrap="square" lIns="0" rIns="0" tIns="0" bIns="0" anchor="t">
            <a:spAutoFit/>
          </a:bodyPr>
          <a:lstStyle/>
          <a:p>
            <a:pPr algn="l">
              <a:spcAft>
                <a:spcPts val="0"/>
              </a:spcAft>
            </a:pPr>
            <a:r>
              <a:rPr sz="1000" b="0" spc="60">
                <a:solidFill>
                  <a:srgbClr val="8A8A8A"/>
                </a:solidFill>
                <a:latin typeface="Courier New"/>
              </a:rPr>
              <a:t>0.12.6</a:t>
            </a:r>
          </a:p>
        </p:txBody>
      </p:sp>
      <p:sp>
        <p:nvSpPr>
          <p:cNvPr id="28" name="TextBox 27"/>
          <p:cNvSpPr txBox="1"/>
          <p:nvPr/>
        </p:nvSpPr>
        <p:spPr>
          <a:xfrm>
            <a:off x="3772585" y="5029200"/>
            <a:ext cx="1907209" cy="658368"/>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Signs and verifies the bearer token the client holds after signing in.</a:t>
            </a:r>
          </a:p>
        </p:txBody>
      </p:sp>
      <p:sp>
        <p:nvSpPr>
          <p:cNvPr id="29" name="Rectangle 28"/>
          <p:cNvSpPr/>
          <p:nvPr/>
        </p:nvSpPr>
        <p:spPr>
          <a:xfrm>
            <a:off x="6255867" y="4096512"/>
            <a:ext cx="2419273"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11899" y="4334256"/>
            <a:ext cx="1907209" cy="329184"/>
          </a:xfrm>
          <a:prstGeom prst="rect">
            <a:avLst/>
          </a:prstGeom>
          <a:noFill/>
        </p:spPr>
        <p:txBody>
          <a:bodyPr wrap="square" lIns="0" rIns="0" tIns="0" bIns="0" anchor="t">
            <a:spAutoFit/>
          </a:bodyPr>
          <a:lstStyle/>
          <a:p>
            <a:pPr algn="l">
              <a:spcAft>
                <a:spcPts val="0"/>
              </a:spcAft>
            </a:pPr>
            <a:r>
              <a:rPr sz="1700" b="0">
                <a:solidFill>
                  <a:srgbClr val="0A0A0A"/>
                </a:solidFill>
                <a:latin typeface="Century Schoolbook"/>
              </a:rPr>
              <a:t>Apache POI</a:t>
            </a:r>
          </a:p>
        </p:txBody>
      </p:sp>
      <p:sp>
        <p:nvSpPr>
          <p:cNvPr id="31" name="TextBox 30"/>
          <p:cNvSpPr txBox="1"/>
          <p:nvPr/>
        </p:nvSpPr>
        <p:spPr>
          <a:xfrm>
            <a:off x="6511899" y="4700016"/>
            <a:ext cx="1907209" cy="256032"/>
          </a:xfrm>
          <a:prstGeom prst="rect">
            <a:avLst/>
          </a:prstGeom>
          <a:noFill/>
        </p:spPr>
        <p:txBody>
          <a:bodyPr wrap="square" lIns="0" rIns="0" tIns="0" bIns="0" anchor="t">
            <a:spAutoFit/>
          </a:bodyPr>
          <a:lstStyle/>
          <a:p>
            <a:pPr algn="l">
              <a:spcAft>
                <a:spcPts val="0"/>
              </a:spcAft>
            </a:pPr>
            <a:r>
              <a:rPr sz="1000" b="0" spc="60">
                <a:solidFill>
                  <a:srgbClr val="8A8A8A"/>
                </a:solidFill>
                <a:latin typeface="Courier New"/>
              </a:rPr>
              <a:t>5.4.1</a:t>
            </a:r>
          </a:p>
        </p:txBody>
      </p:sp>
      <p:sp>
        <p:nvSpPr>
          <p:cNvPr id="32" name="TextBox 31"/>
          <p:cNvSpPr txBox="1"/>
          <p:nvPr/>
        </p:nvSpPr>
        <p:spPr>
          <a:xfrm>
            <a:off x="6511899" y="5029200"/>
            <a:ext cx="1907209" cy="658368"/>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Writes the register as .xlsx, one row per student, styles built once.</a:t>
            </a:r>
          </a:p>
        </p:txBody>
      </p:sp>
      <p:sp>
        <p:nvSpPr>
          <p:cNvPr id="33" name="Rectangle 32"/>
          <p:cNvSpPr/>
          <p:nvPr/>
        </p:nvSpPr>
        <p:spPr>
          <a:xfrm>
            <a:off x="8995181" y="4096512"/>
            <a:ext cx="2419273"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251213" y="4334256"/>
            <a:ext cx="1907209" cy="329184"/>
          </a:xfrm>
          <a:prstGeom prst="rect">
            <a:avLst/>
          </a:prstGeom>
          <a:noFill/>
        </p:spPr>
        <p:txBody>
          <a:bodyPr wrap="square" lIns="0" rIns="0" tIns="0" bIns="0" anchor="t">
            <a:spAutoFit/>
          </a:bodyPr>
          <a:lstStyle/>
          <a:p>
            <a:pPr algn="l">
              <a:spcAft>
                <a:spcPts val="0"/>
              </a:spcAft>
            </a:pPr>
            <a:r>
              <a:rPr sz="1700" b="0">
                <a:solidFill>
                  <a:srgbClr val="0A0A0A"/>
                </a:solidFill>
                <a:latin typeface="Century Schoolbook"/>
              </a:rPr>
              <a:t>PDFBox</a:t>
            </a:r>
          </a:p>
        </p:txBody>
      </p:sp>
      <p:sp>
        <p:nvSpPr>
          <p:cNvPr id="35" name="TextBox 34"/>
          <p:cNvSpPr txBox="1"/>
          <p:nvPr/>
        </p:nvSpPr>
        <p:spPr>
          <a:xfrm>
            <a:off x="9251213" y="4700016"/>
            <a:ext cx="1907209" cy="256032"/>
          </a:xfrm>
          <a:prstGeom prst="rect">
            <a:avLst/>
          </a:prstGeom>
          <a:noFill/>
        </p:spPr>
        <p:txBody>
          <a:bodyPr wrap="square" lIns="0" rIns="0" tIns="0" bIns="0" anchor="t">
            <a:spAutoFit/>
          </a:bodyPr>
          <a:lstStyle/>
          <a:p>
            <a:pPr algn="l">
              <a:spcAft>
                <a:spcPts val="0"/>
              </a:spcAft>
            </a:pPr>
            <a:r>
              <a:rPr sz="1000" b="0" spc="60">
                <a:solidFill>
                  <a:srgbClr val="8A8A8A"/>
                </a:solidFill>
                <a:latin typeface="Courier New"/>
              </a:rPr>
              <a:t>3.0.5</a:t>
            </a:r>
          </a:p>
        </p:txBody>
      </p:sp>
      <p:sp>
        <p:nvSpPr>
          <p:cNvPr id="36" name="TextBox 35"/>
          <p:cNvSpPr txBox="1"/>
          <p:nvPr/>
        </p:nvSpPr>
        <p:spPr>
          <a:xfrm>
            <a:off x="9251213" y="5029200"/>
            <a:ext cx="1907209" cy="658368"/>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Writes the same register as a printable PDF, stream closed on every path.</a:t>
            </a:r>
          </a:p>
        </p:txBody>
      </p:sp>
      <p:sp>
        <p:nvSpPr>
          <p:cNvPr id="37" name="TextBox 36"/>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04 / RECOGNITION</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FFFFFF"/>
                </a:solidFill>
                <a:latin typeface="Century Schoolbook"/>
              </a:rPr>
              <a:t>From a frame to a row</a:t>
            </a:r>
          </a:p>
        </p:txBody>
      </p:sp>
      <p:cxnSp>
        <p:nvCxnSpPr>
          <p:cNvPr id="4" name="Connector 3"/>
          <p:cNvCxnSpPr/>
          <p:nvPr/>
        </p:nvCxnSpPr>
        <p:spPr>
          <a:xfrm>
            <a:off x="777240" y="1938528"/>
            <a:ext cx="10637215"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340864"/>
            <a:ext cx="1856231" cy="1810512"/>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695" y="2542032"/>
            <a:ext cx="1463040" cy="237744"/>
          </a:xfrm>
          <a:prstGeom prst="rect">
            <a:avLst/>
          </a:prstGeom>
          <a:noFill/>
        </p:spPr>
        <p:txBody>
          <a:bodyPr wrap="square" lIns="0" rIns="0" tIns="0" bIns="0" anchor="t">
            <a:spAutoFit/>
          </a:bodyPr>
          <a:lstStyle/>
          <a:p>
            <a:pPr algn="l">
              <a:spcAft>
                <a:spcPts val="0"/>
              </a:spcAft>
            </a:pPr>
            <a:r>
              <a:rPr sz="900" b="0" spc="100">
                <a:solidFill>
                  <a:srgbClr val="8A8A8A"/>
                </a:solidFill>
                <a:latin typeface="Courier New"/>
              </a:rPr>
              <a:t>01</a:t>
            </a:r>
          </a:p>
        </p:txBody>
      </p:sp>
      <p:sp>
        <p:nvSpPr>
          <p:cNvPr id="7" name="TextBox 6"/>
          <p:cNvSpPr txBox="1"/>
          <p:nvPr/>
        </p:nvSpPr>
        <p:spPr>
          <a:xfrm>
            <a:off x="996695" y="2816352"/>
            <a:ext cx="1554480" cy="292608"/>
          </a:xfrm>
          <a:prstGeom prst="rect">
            <a:avLst/>
          </a:prstGeom>
          <a:noFill/>
        </p:spPr>
        <p:txBody>
          <a:bodyPr wrap="square" lIns="0" rIns="0" tIns="0" bIns="0" anchor="t">
            <a:spAutoFit/>
          </a:bodyPr>
          <a:lstStyle/>
          <a:p>
            <a:pPr algn="l">
              <a:spcAft>
                <a:spcPts val="0"/>
              </a:spcAft>
            </a:pPr>
            <a:r>
              <a:rPr sz="1500" b="0">
                <a:solidFill>
                  <a:srgbClr val="FFFFFF"/>
                </a:solidFill>
                <a:latin typeface="Century Schoolbook"/>
              </a:rPr>
              <a:t>CAPTURE</a:t>
            </a:r>
          </a:p>
        </p:txBody>
      </p:sp>
      <p:sp>
        <p:nvSpPr>
          <p:cNvPr id="8" name="TextBox 7"/>
          <p:cNvSpPr txBox="1"/>
          <p:nvPr/>
        </p:nvSpPr>
        <p:spPr>
          <a:xfrm>
            <a:off x="996695" y="3182112"/>
            <a:ext cx="1481328" cy="822960"/>
          </a:xfrm>
          <a:prstGeom prst="rect">
            <a:avLst/>
          </a:prstGeom>
          <a:noFill/>
        </p:spPr>
        <p:txBody>
          <a:bodyPr wrap="square" lIns="0" rIns="0" tIns="0" bIns="0" anchor="t">
            <a:spAutoFit/>
          </a:bodyPr>
          <a:lstStyle/>
          <a:p>
            <a:pPr algn="l">
              <a:lnSpc>
                <a:spcPct val="122000"/>
              </a:lnSpc>
              <a:spcAft>
                <a:spcPts val="0"/>
              </a:spcAft>
            </a:pPr>
            <a:r>
              <a:rPr sz="1000" b="0">
                <a:solidFill>
                  <a:srgbClr val="8A8A8A"/>
                </a:solidFill>
                <a:latin typeface="Calibri"/>
              </a:rPr>
              <a:t>A scheduled thread reads the webcam, about ten passes a second.</a:t>
            </a:r>
          </a:p>
        </p:txBody>
      </p:sp>
      <p:cxnSp>
        <p:nvCxnSpPr>
          <p:cNvPr id="9" name="Connector 8"/>
          <p:cNvCxnSpPr/>
          <p:nvPr/>
        </p:nvCxnSpPr>
        <p:spPr>
          <a:xfrm>
            <a:off x="2688336" y="3246120"/>
            <a:ext cx="219456" cy="0"/>
          </a:xfrm>
          <a:prstGeom prst="line">
            <a:avLst/>
          </a:prstGeom>
          <a:ln w="12700">
            <a:solidFill>
              <a:srgbClr val="3A3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962656" y="2340864"/>
            <a:ext cx="1856231" cy="1810512"/>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182112" y="2542032"/>
            <a:ext cx="1463040" cy="237744"/>
          </a:xfrm>
          <a:prstGeom prst="rect">
            <a:avLst/>
          </a:prstGeom>
          <a:noFill/>
        </p:spPr>
        <p:txBody>
          <a:bodyPr wrap="square" lIns="0" rIns="0" tIns="0" bIns="0" anchor="t">
            <a:spAutoFit/>
          </a:bodyPr>
          <a:lstStyle/>
          <a:p>
            <a:pPr algn="l">
              <a:spcAft>
                <a:spcPts val="0"/>
              </a:spcAft>
            </a:pPr>
            <a:r>
              <a:rPr sz="900" b="0" spc="100">
                <a:solidFill>
                  <a:srgbClr val="8A8A8A"/>
                </a:solidFill>
                <a:latin typeface="Courier New"/>
              </a:rPr>
              <a:t>02</a:t>
            </a:r>
          </a:p>
        </p:txBody>
      </p:sp>
      <p:sp>
        <p:nvSpPr>
          <p:cNvPr id="12" name="TextBox 11"/>
          <p:cNvSpPr txBox="1"/>
          <p:nvPr/>
        </p:nvSpPr>
        <p:spPr>
          <a:xfrm>
            <a:off x="3182112" y="2816352"/>
            <a:ext cx="1554480" cy="292608"/>
          </a:xfrm>
          <a:prstGeom prst="rect">
            <a:avLst/>
          </a:prstGeom>
          <a:noFill/>
        </p:spPr>
        <p:txBody>
          <a:bodyPr wrap="square" lIns="0" rIns="0" tIns="0" bIns="0" anchor="t">
            <a:spAutoFit/>
          </a:bodyPr>
          <a:lstStyle/>
          <a:p>
            <a:pPr algn="l">
              <a:spcAft>
                <a:spcPts val="0"/>
              </a:spcAft>
            </a:pPr>
            <a:r>
              <a:rPr sz="1500" b="0">
                <a:solidFill>
                  <a:srgbClr val="FFFFFF"/>
                </a:solidFill>
                <a:latin typeface="Century Schoolbook"/>
              </a:rPr>
              <a:t>DETECT</a:t>
            </a:r>
          </a:p>
        </p:txBody>
      </p:sp>
      <p:sp>
        <p:nvSpPr>
          <p:cNvPr id="13" name="TextBox 12"/>
          <p:cNvSpPr txBox="1"/>
          <p:nvPr/>
        </p:nvSpPr>
        <p:spPr>
          <a:xfrm>
            <a:off x="3182112" y="3182112"/>
            <a:ext cx="1481328" cy="822960"/>
          </a:xfrm>
          <a:prstGeom prst="rect">
            <a:avLst/>
          </a:prstGeom>
          <a:noFill/>
        </p:spPr>
        <p:txBody>
          <a:bodyPr wrap="square" lIns="0" rIns="0" tIns="0" bIns="0" anchor="t">
            <a:spAutoFit/>
          </a:bodyPr>
          <a:lstStyle/>
          <a:p>
            <a:pPr algn="l">
              <a:lnSpc>
                <a:spcPct val="122000"/>
              </a:lnSpc>
              <a:spcAft>
                <a:spcPts val="0"/>
              </a:spcAft>
            </a:pPr>
            <a:r>
              <a:rPr sz="1000" b="0">
                <a:solidFill>
                  <a:srgbClr val="8A8A8A"/>
                </a:solidFill>
                <a:latin typeface="Calibri"/>
              </a:rPr>
              <a:t>YuNet, a 232 KB ONNX model. A box and five landmarks per face.</a:t>
            </a:r>
          </a:p>
        </p:txBody>
      </p:sp>
      <p:cxnSp>
        <p:nvCxnSpPr>
          <p:cNvPr id="14" name="Connector 13"/>
          <p:cNvCxnSpPr/>
          <p:nvPr/>
        </p:nvCxnSpPr>
        <p:spPr>
          <a:xfrm>
            <a:off x="4873752" y="3246120"/>
            <a:ext cx="219456" cy="0"/>
          </a:xfrm>
          <a:prstGeom prst="line">
            <a:avLst/>
          </a:prstGeom>
          <a:ln w="12700">
            <a:solidFill>
              <a:srgbClr val="3A3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148072" y="2340864"/>
            <a:ext cx="1856231" cy="1810512"/>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367528" y="2542032"/>
            <a:ext cx="1463040" cy="237744"/>
          </a:xfrm>
          <a:prstGeom prst="rect">
            <a:avLst/>
          </a:prstGeom>
          <a:noFill/>
        </p:spPr>
        <p:txBody>
          <a:bodyPr wrap="square" lIns="0" rIns="0" tIns="0" bIns="0" anchor="t">
            <a:spAutoFit/>
          </a:bodyPr>
          <a:lstStyle/>
          <a:p>
            <a:pPr algn="l">
              <a:spcAft>
                <a:spcPts val="0"/>
              </a:spcAft>
            </a:pPr>
            <a:r>
              <a:rPr sz="900" b="0" spc="100">
                <a:solidFill>
                  <a:srgbClr val="8A8A8A"/>
                </a:solidFill>
                <a:latin typeface="Courier New"/>
              </a:rPr>
              <a:t>03</a:t>
            </a:r>
          </a:p>
        </p:txBody>
      </p:sp>
      <p:sp>
        <p:nvSpPr>
          <p:cNvPr id="17" name="TextBox 16"/>
          <p:cNvSpPr txBox="1"/>
          <p:nvPr/>
        </p:nvSpPr>
        <p:spPr>
          <a:xfrm>
            <a:off x="5367528" y="2816352"/>
            <a:ext cx="1554480" cy="292608"/>
          </a:xfrm>
          <a:prstGeom prst="rect">
            <a:avLst/>
          </a:prstGeom>
          <a:noFill/>
        </p:spPr>
        <p:txBody>
          <a:bodyPr wrap="square" lIns="0" rIns="0" tIns="0" bIns="0" anchor="t">
            <a:spAutoFit/>
          </a:bodyPr>
          <a:lstStyle/>
          <a:p>
            <a:pPr algn="l">
              <a:spcAft>
                <a:spcPts val="0"/>
              </a:spcAft>
            </a:pPr>
            <a:r>
              <a:rPr sz="1500" b="0">
                <a:solidFill>
                  <a:srgbClr val="FFFFFF"/>
                </a:solidFill>
                <a:latin typeface="Century Schoolbook"/>
              </a:rPr>
              <a:t>ALIGN</a:t>
            </a:r>
          </a:p>
        </p:txBody>
      </p:sp>
      <p:sp>
        <p:nvSpPr>
          <p:cNvPr id="18" name="TextBox 17"/>
          <p:cNvSpPr txBox="1"/>
          <p:nvPr/>
        </p:nvSpPr>
        <p:spPr>
          <a:xfrm>
            <a:off x="5367528" y="3182112"/>
            <a:ext cx="1481328" cy="822960"/>
          </a:xfrm>
          <a:prstGeom prst="rect">
            <a:avLst/>
          </a:prstGeom>
          <a:noFill/>
        </p:spPr>
        <p:txBody>
          <a:bodyPr wrap="square" lIns="0" rIns="0" tIns="0" bIns="0" anchor="t">
            <a:spAutoFit/>
          </a:bodyPr>
          <a:lstStyle/>
          <a:p>
            <a:pPr algn="l">
              <a:lnSpc>
                <a:spcPct val="122000"/>
              </a:lnSpc>
              <a:spcAft>
                <a:spcPts val="0"/>
              </a:spcAft>
            </a:pPr>
            <a:r>
              <a:rPr sz="1000" b="0">
                <a:solidFill>
                  <a:srgbClr val="8A8A8A"/>
                </a:solidFill>
                <a:latin typeface="Calibri"/>
              </a:rPr>
              <a:t>alignCrop on those landmarks. Every sample is a 112x112 PNG.</a:t>
            </a:r>
          </a:p>
        </p:txBody>
      </p:sp>
      <p:cxnSp>
        <p:nvCxnSpPr>
          <p:cNvPr id="19" name="Connector 18"/>
          <p:cNvCxnSpPr/>
          <p:nvPr/>
        </p:nvCxnSpPr>
        <p:spPr>
          <a:xfrm>
            <a:off x="7059168" y="3246120"/>
            <a:ext cx="219456" cy="0"/>
          </a:xfrm>
          <a:prstGeom prst="line">
            <a:avLst/>
          </a:prstGeom>
          <a:ln w="12700">
            <a:solidFill>
              <a:srgbClr val="3A3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333488" y="2340864"/>
            <a:ext cx="1856231" cy="1810512"/>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552944" y="2542032"/>
            <a:ext cx="1463040" cy="237744"/>
          </a:xfrm>
          <a:prstGeom prst="rect">
            <a:avLst/>
          </a:prstGeom>
          <a:noFill/>
        </p:spPr>
        <p:txBody>
          <a:bodyPr wrap="square" lIns="0" rIns="0" tIns="0" bIns="0" anchor="t">
            <a:spAutoFit/>
          </a:bodyPr>
          <a:lstStyle/>
          <a:p>
            <a:pPr algn="l">
              <a:spcAft>
                <a:spcPts val="0"/>
              </a:spcAft>
            </a:pPr>
            <a:r>
              <a:rPr sz="900" b="0" spc="100">
                <a:solidFill>
                  <a:srgbClr val="8A8A8A"/>
                </a:solidFill>
                <a:latin typeface="Courier New"/>
              </a:rPr>
              <a:t>04</a:t>
            </a:r>
          </a:p>
        </p:txBody>
      </p:sp>
      <p:sp>
        <p:nvSpPr>
          <p:cNvPr id="22" name="TextBox 21"/>
          <p:cNvSpPr txBox="1"/>
          <p:nvPr/>
        </p:nvSpPr>
        <p:spPr>
          <a:xfrm>
            <a:off x="7552944" y="2816352"/>
            <a:ext cx="1554480" cy="292608"/>
          </a:xfrm>
          <a:prstGeom prst="rect">
            <a:avLst/>
          </a:prstGeom>
          <a:noFill/>
        </p:spPr>
        <p:txBody>
          <a:bodyPr wrap="square" lIns="0" rIns="0" tIns="0" bIns="0" anchor="t">
            <a:spAutoFit/>
          </a:bodyPr>
          <a:lstStyle/>
          <a:p>
            <a:pPr algn="l">
              <a:spcAft>
                <a:spcPts val="0"/>
              </a:spcAft>
            </a:pPr>
            <a:r>
              <a:rPr sz="1500" b="0">
                <a:solidFill>
                  <a:srgbClr val="FFFFFF"/>
                </a:solidFill>
                <a:latin typeface="Century Schoolbook"/>
              </a:rPr>
              <a:t>EMBED</a:t>
            </a:r>
          </a:p>
        </p:txBody>
      </p:sp>
      <p:sp>
        <p:nvSpPr>
          <p:cNvPr id="23" name="TextBox 22"/>
          <p:cNvSpPr txBox="1"/>
          <p:nvPr/>
        </p:nvSpPr>
        <p:spPr>
          <a:xfrm>
            <a:off x="7552944" y="3182112"/>
            <a:ext cx="1481328" cy="822960"/>
          </a:xfrm>
          <a:prstGeom prst="rect">
            <a:avLst/>
          </a:prstGeom>
          <a:noFill/>
        </p:spPr>
        <p:txBody>
          <a:bodyPr wrap="square" lIns="0" rIns="0" tIns="0" bIns="0" anchor="t">
            <a:spAutoFit/>
          </a:bodyPr>
          <a:lstStyle/>
          <a:p>
            <a:pPr algn="l">
              <a:lnSpc>
                <a:spcPct val="122000"/>
              </a:lnSpc>
              <a:spcAft>
                <a:spcPts val="0"/>
              </a:spcAft>
            </a:pPr>
            <a:r>
              <a:rPr sz="1000" b="0">
                <a:solidFill>
                  <a:srgbClr val="8A8A8A"/>
                </a:solidFill>
                <a:latin typeface="Calibri"/>
              </a:rPr>
              <a:t>SFace, 37 MB. One vector per face, compared by cosine.</a:t>
            </a:r>
          </a:p>
        </p:txBody>
      </p:sp>
      <p:cxnSp>
        <p:nvCxnSpPr>
          <p:cNvPr id="24" name="Connector 23"/>
          <p:cNvCxnSpPr/>
          <p:nvPr/>
        </p:nvCxnSpPr>
        <p:spPr>
          <a:xfrm>
            <a:off x="9244584" y="3246120"/>
            <a:ext cx="219456" cy="0"/>
          </a:xfrm>
          <a:prstGeom prst="line">
            <a:avLst/>
          </a:prstGeom>
          <a:ln w="12700">
            <a:solidFill>
              <a:srgbClr val="3A3A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518904" y="2340864"/>
            <a:ext cx="1856231" cy="1810512"/>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738360" y="2542032"/>
            <a:ext cx="1463040" cy="237744"/>
          </a:xfrm>
          <a:prstGeom prst="rect">
            <a:avLst/>
          </a:prstGeom>
          <a:noFill/>
        </p:spPr>
        <p:txBody>
          <a:bodyPr wrap="square" lIns="0" rIns="0" tIns="0" bIns="0" anchor="t">
            <a:spAutoFit/>
          </a:bodyPr>
          <a:lstStyle/>
          <a:p>
            <a:pPr algn="l">
              <a:spcAft>
                <a:spcPts val="0"/>
              </a:spcAft>
            </a:pPr>
            <a:r>
              <a:rPr sz="900" b="0" spc="100">
                <a:solidFill>
                  <a:srgbClr val="8A8A8A"/>
                </a:solidFill>
                <a:latin typeface="Courier New"/>
              </a:rPr>
              <a:t>05</a:t>
            </a:r>
          </a:p>
        </p:txBody>
      </p:sp>
      <p:sp>
        <p:nvSpPr>
          <p:cNvPr id="27" name="TextBox 26"/>
          <p:cNvSpPr txBox="1"/>
          <p:nvPr/>
        </p:nvSpPr>
        <p:spPr>
          <a:xfrm>
            <a:off x="9738360" y="2816352"/>
            <a:ext cx="1554480" cy="292608"/>
          </a:xfrm>
          <a:prstGeom prst="rect">
            <a:avLst/>
          </a:prstGeom>
          <a:noFill/>
        </p:spPr>
        <p:txBody>
          <a:bodyPr wrap="square" lIns="0" rIns="0" tIns="0" bIns="0" anchor="t">
            <a:spAutoFit/>
          </a:bodyPr>
          <a:lstStyle/>
          <a:p>
            <a:pPr algn="l">
              <a:spcAft>
                <a:spcPts val="0"/>
              </a:spcAft>
            </a:pPr>
            <a:r>
              <a:rPr sz="1500" b="0">
                <a:solidFill>
                  <a:srgbClr val="FFFFFF"/>
                </a:solidFill>
                <a:latin typeface="Century Schoolbook"/>
              </a:rPr>
              <a:t>RECORD</a:t>
            </a:r>
          </a:p>
        </p:txBody>
      </p:sp>
      <p:sp>
        <p:nvSpPr>
          <p:cNvPr id="28" name="TextBox 27"/>
          <p:cNvSpPr txBox="1"/>
          <p:nvPr/>
        </p:nvSpPr>
        <p:spPr>
          <a:xfrm>
            <a:off x="9738360" y="3182112"/>
            <a:ext cx="1481328" cy="822960"/>
          </a:xfrm>
          <a:prstGeom prst="rect">
            <a:avLst/>
          </a:prstGeom>
          <a:noFill/>
        </p:spPr>
        <p:txBody>
          <a:bodyPr wrap="square" lIns="0" rIns="0" tIns="0" bIns="0" anchor="t">
            <a:spAutoFit/>
          </a:bodyPr>
          <a:lstStyle/>
          <a:p>
            <a:pPr algn="l">
              <a:lnSpc>
                <a:spcPct val="122000"/>
              </a:lnSpc>
              <a:spcAft>
                <a:spcPts val="0"/>
              </a:spcAft>
            </a:pPr>
            <a:r>
              <a:rPr sz="1000" b="0">
                <a:solidFill>
                  <a:srgbClr val="8A8A8A"/>
                </a:solidFill>
                <a:latin typeface="Calibri"/>
              </a:rPr>
              <a:t>Over threshold, the student id becomes one attendance row.</a:t>
            </a:r>
          </a:p>
        </p:txBody>
      </p:sp>
      <p:cxnSp>
        <p:nvCxnSpPr>
          <p:cNvPr id="29" name="Connector 28"/>
          <p:cNvCxnSpPr/>
          <p:nvPr/>
        </p:nvCxnSpPr>
        <p:spPr>
          <a:xfrm>
            <a:off x="630936" y="4645152"/>
            <a:ext cx="164591"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30936" y="4645152"/>
            <a:ext cx="0" cy="164592"/>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30936" y="5449824"/>
            <a:ext cx="164591"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30936" y="5285232"/>
            <a:ext cx="0" cy="164592"/>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2404872" y="4645152"/>
            <a:ext cx="164592"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569464" y="4645152"/>
            <a:ext cx="0" cy="164592"/>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2404872" y="5449824"/>
            <a:ext cx="164592"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569464" y="5285232"/>
            <a:ext cx="0" cy="164592"/>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77240" y="4700016"/>
            <a:ext cx="2194560" cy="731520"/>
          </a:xfrm>
          <a:prstGeom prst="rect">
            <a:avLst/>
          </a:prstGeom>
          <a:noFill/>
        </p:spPr>
        <p:txBody>
          <a:bodyPr wrap="square" lIns="0" rIns="0" tIns="0" bIns="0" anchor="t">
            <a:spAutoFit/>
          </a:bodyPr>
          <a:lstStyle/>
          <a:p>
            <a:pPr algn="l">
              <a:spcAft>
                <a:spcPts val="0"/>
              </a:spcAft>
            </a:pPr>
            <a:r>
              <a:rPr sz="5200" b="0">
                <a:solidFill>
                  <a:srgbClr val="FFFFFF"/>
                </a:solidFill>
                <a:latin typeface="Century Schoolbook"/>
              </a:rPr>
              <a:t>0.363</a:t>
            </a:r>
          </a:p>
        </p:txBody>
      </p:sp>
      <p:sp>
        <p:nvSpPr>
          <p:cNvPr id="38" name="TextBox 37"/>
          <p:cNvSpPr txBox="1"/>
          <p:nvPr/>
        </p:nvSpPr>
        <p:spPr>
          <a:xfrm>
            <a:off x="777240" y="5522976"/>
            <a:ext cx="2743200" cy="274320"/>
          </a:xfrm>
          <a:prstGeom prst="rect">
            <a:avLst/>
          </a:prstGeom>
          <a:noFill/>
        </p:spPr>
        <p:txBody>
          <a:bodyPr wrap="square" lIns="0" rIns="0" tIns="0" bIns="0" anchor="t">
            <a:spAutoFit/>
          </a:bodyPr>
          <a:lstStyle/>
          <a:p>
            <a:pPr algn="l">
              <a:spcAft>
                <a:spcPts val="0"/>
              </a:spcAft>
            </a:pPr>
            <a:r>
              <a:rPr sz="950" b="0" spc="80">
                <a:solidFill>
                  <a:srgbClr val="8A8A8A"/>
                </a:solidFill>
                <a:latin typeface="Courier New"/>
              </a:rPr>
              <a:t>COSINE THRESHOLD</a:t>
            </a:r>
          </a:p>
        </p:txBody>
      </p:sp>
      <p:sp>
        <p:nvSpPr>
          <p:cNvPr id="39" name="TextBox 38"/>
          <p:cNvSpPr txBox="1"/>
          <p:nvPr/>
        </p:nvSpPr>
        <p:spPr>
          <a:xfrm>
            <a:off x="3337560" y="4718304"/>
            <a:ext cx="8046720" cy="1188720"/>
          </a:xfrm>
          <a:prstGeom prst="rect">
            <a:avLst/>
          </a:prstGeom>
          <a:noFill/>
        </p:spPr>
        <p:txBody>
          <a:bodyPr wrap="square" lIns="0" rIns="0" tIns="0" bIns="0" anchor="t">
            <a:spAutoFit/>
          </a:bodyPr>
          <a:lstStyle/>
          <a:p>
            <a:pPr algn="l">
              <a:lnSpc>
                <a:spcPct val="130000"/>
              </a:lnSpc>
              <a:spcAft>
                <a:spcPts val="800"/>
              </a:spcAft>
            </a:pPr>
            <a:r>
              <a:rPr sz="1250" b="0">
                <a:solidFill>
                  <a:srgbClr val="8A8A8A"/>
                </a:solidFill>
                <a:latin typeface="Calibri"/>
              </a:rPr>
              <a:t>OpenCV's own published threshold for SFace, used as published rather than tuned until the demo worked.</a:t>
            </a:r>
          </a:p>
          <a:p>
            <a:pPr algn="l">
              <a:lnSpc>
                <a:spcPct val="130000"/>
              </a:lnSpc>
              <a:spcAft>
                <a:spcPts val="800"/>
              </a:spcAft>
            </a:pPr>
            <a:r>
              <a:rPr sz="1250" b="0">
                <a:solidFill>
                  <a:srgbClr val="8A8A8A"/>
                </a:solidFill>
                <a:latin typeface="Calibri"/>
              </a:rPr>
              <a:t>It is not a percentage of anything, and nothing in the code pretends otherwise - a face below it is reported as nobody, not as a low-scoring guess, because a wrong name on a register is worse than a gap.</a:t>
            </a:r>
          </a:p>
        </p:txBody>
      </p:sp>
      <p:sp>
        <p:nvSpPr>
          <p:cNvPr id="40" name="TextBox 39"/>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3A3A3A"/>
                </a:solidFill>
                <a:latin typeface="Courier New"/>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05 / THE HARD PART</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The camera was killing the JVM</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30936" y="2103120"/>
            <a:ext cx="146304" cy="0"/>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30936" y="2103120"/>
            <a:ext cx="0" cy="146304"/>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30936" y="2944368"/>
            <a:ext cx="146304" cy="0"/>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30936" y="2798063"/>
            <a:ext cx="0" cy="146305"/>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261872" y="2103120"/>
            <a:ext cx="146304" cy="0"/>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408176" y="2103120"/>
            <a:ext cx="0" cy="146304"/>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261872" y="2944368"/>
            <a:ext cx="146304" cy="0"/>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408176" y="2798063"/>
            <a:ext cx="0" cy="146305"/>
          </a:xfrm>
          <a:prstGeom prst="line">
            <a:avLst/>
          </a:prstGeom>
          <a:ln w="15875">
            <a:solidFill>
              <a:srgbClr val="8A8A8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2212848"/>
            <a:ext cx="5120640" cy="713232"/>
          </a:xfrm>
          <a:prstGeom prst="rect">
            <a:avLst/>
          </a:prstGeom>
          <a:noFill/>
        </p:spPr>
        <p:txBody>
          <a:bodyPr wrap="square" lIns="0" rIns="0" tIns="0" bIns="0" anchor="t">
            <a:spAutoFit/>
          </a:bodyPr>
          <a:lstStyle/>
          <a:p>
            <a:pPr algn="l">
              <a:spcAft>
                <a:spcPts val="0"/>
              </a:spcAft>
            </a:pPr>
            <a:r>
              <a:rPr sz="5400" b="0">
                <a:solidFill>
                  <a:srgbClr val="0A0A0A"/>
                </a:solidFill>
                <a:latin typeface="Century Schoolbook"/>
              </a:rPr>
              <a:t>2</a:t>
            </a:r>
          </a:p>
        </p:txBody>
      </p:sp>
      <p:sp>
        <p:nvSpPr>
          <p:cNvPr id="14" name="TextBox 13"/>
          <p:cNvSpPr txBox="1"/>
          <p:nvPr/>
        </p:nvSpPr>
        <p:spPr>
          <a:xfrm>
            <a:off x="777240" y="2980944"/>
            <a:ext cx="5120640" cy="457200"/>
          </a:xfrm>
          <a:prstGeom prst="rect">
            <a:avLst/>
          </a:prstGeom>
          <a:noFill/>
        </p:spPr>
        <p:txBody>
          <a:bodyPr wrap="square" lIns="0" rIns="0" tIns="0" bIns="0" anchor="t">
            <a:spAutoFit/>
          </a:bodyPr>
          <a:lstStyle/>
          <a:p>
            <a:pPr algn="l">
              <a:lnSpc>
                <a:spcPct val="125000"/>
              </a:lnSpc>
              <a:spcAft>
                <a:spcPts val="0"/>
              </a:spcAft>
            </a:pPr>
            <a:r>
              <a:rPr sz="950" b="0" spc="80">
                <a:solidFill>
                  <a:srgbClr val="8A8A8A"/>
                </a:solidFill>
                <a:latin typeface="Courier New"/>
              </a:rPr>
              <a:t>JVM CRASHES IN TWO DAYS, SAME SIGNAL</a:t>
            </a:r>
          </a:p>
        </p:txBody>
      </p:sp>
      <p:sp>
        <p:nvSpPr>
          <p:cNvPr id="15" name="TextBox 14"/>
          <p:cNvSpPr txBox="1"/>
          <p:nvPr/>
        </p:nvSpPr>
        <p:spPr>
          <a:xfrm>
            <a:off x="777240" y="3310128"/>
            <a:ext cx="5120640" cy="2377440"/>
          </a:xfrm>
          <a:prstGeom prst="rect">
            <a:avLst/>
          </a:prstGeom>
          <a:noFill/>
        </p:spPr>
        <p:txBody>
          <a:bodyPr wrap="square" lIns="0" rIns="0" tIns="0" bIns="0" anchor="t">
            <a:spAutoFit/>
          </a:bodyPr>
          <a:lstStyle/>
          <a:p>
            <a:pPr algn="l">
              <a:lnSpc>
                <a:spcPct val="130000"/>
              </a:lnSpc>
              <a:spcAft>
                <a:spcPts val="700"/>
              </a:spcAft>
            </a:pPr>
            <a:r>
              <a:rPr sz="1250" b="0">
                <a:solidFill>
                  <a:srgbClr val="444444"/>
                </a:solidFill>
                <a:latin typeface="Calibri"/>
              </a:rPr>
              <a:t>Both crash logs said the same thing: SIGSEGV inside objc_msgSend, under VideoCapture.read, on fras-camera-thread.</a:t>
            </a:r>
          </a:p>
          <a:p>
            <a:pPr algn="l">
              <a:lnSpc>
                <a:spcPct val="130000"/>
              </a:lnSpc>
              <a:spcAft>
                <a:spcPts val="700"/>
              </a:spcAft>
            </a:pPr>
            <a:r>
              <a:rPr sz="1250" b="0">
                <a:solidFill>
                  <a:srgbClr val="444444"/>
                </a:solidFill>
                <a:latin typeface="Calibri"/>
              </a:rPr>
              <a:t>The cause was not the camera. stop() set a flag, called shutdownNow() and released the capture device on the next line - but shutdownNow only interrupts, and a blocking native read ignores interrupts.</a:t>
            </a:r>
          </a:p>
          <a:p>
            <a:pPr algn="l">
              <a:lnSpc>
                <a:spcPct val="130000"/>
              </a:lnSpc>
              <a:spcAft>
                <a:spcPts val="700"/>
              </a:spcAft>
            </a:pPr>
            <a:r>
              <a:rPr sz="1250" b="0">
                <a:solidFill>
                  <a:srgbClr val="444444"/>
                </a:solidFill>
                <a:latin typeface="Calibri"/>
              </a:rPr>
              <a:t>So the camera thread could still be inside read on a handle the UI thread had just freed. That is a use-after-free in native code: it ends the process instead of throwing something a catch block could see, which is why it looked like a random crash on leaving the live screen.</a:t>
            </a:r>
          </a:p>
        </p:txBody>
      </p:sp>
      <p:sp>
        <p:nvSpPr>
          <p:cNvPr id="16" name="Rectangle 15"/>
          <p:cNvSpPr/>
          <p:nvPr/>
        </p:nvSpPr>
        <p:spPr>
          <a:xfrm>
            <a:off x="6446520" y="2212848"/>
            <a:ext cx="4965192" cy="1691640"/>
          </a:xfrm>
          <a:prstGeom prst="rect">
            <a:avLst/>
          </a:prstGeom>
          <a:solidFill>
            <a:srgbClr val="F2F2F2"/>
          </a:solidFill>
          <a:ln w="9525">
            <a:solidFill>
              <a:srgbClr val="DEDE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39128" y="2432304"/>
            <a:ext cx="2743200" cy="237744"/>
          </a:xfrm>
          <a:prstGeom prst="rect">
            <a:avLst/>
          </a:prstGeom>
          <a:noFill/>
        </p:spPr>
        <p:txBody>
          <a:bodyPr wrap="square" lIns="0" rIns="0" tIns="0" bIns="0" anchor="t">
            <a:spAutoFit/>
          </a:bodyPr>
          <a:lstStyle/>
          <a:p>
            <a:pPr algn="l">
              <a:spcAft>
                <a:spcPts val="0"/>
              </a:spcAft>
            </a:pPr>
            <a:r>
              <a:rPr sz="950" b="0" spc="100">
                <a:solidFill>
                  <a:srgbClr val="8A8A8A"/>
                </a:solidFill>
                <a:latin typeface="Courier New"/>
              </a:rPr>
              <a:t>BEFORE</a:t>
            </a:r>
          </a:p>
        </p:txBody>
      </p:sp>
      <p:sp>
        <p:nvSpPr>
          <p:cNvPr id="18" name="TextBox 17"/>
          <p:cNvSpPr txBox="1"/>
          <p:nvPr/>
        </p:nvSpPr>
        <p:spPr>
          <a:xfrm>
            <a:off x="6739128" y="2761488"/>
            <a:ext cx="4389120" cy="566928"/>
          </a:xfrm>
          <a:prstGeom prst="rect">
            <a:avLst/>
          </a:prstGeom>
          <a:noFill/>
        </p:spPr>
        <p:txBody>
          <a:bodyPr wrap="square" lIns="0" rIns="0" tIns="0" bIns="0" anchor="t">
            <a:spAutoFit/>
          </a:bodyPr>
          <a:lstStyle/>
          <a:p>
            <a:pPr algn="l">
              <a:lnSpc>
                <a:spcPct val="130000"/>
              </a:lnSpc>
              <a:spcAft>
                <a:spcPts val="0"/>
              </a:spcAft>
            </a:pPr>
            <a:r>
              <a:rPr sz="1100" b="0">
                <a:solidFill>
                  <a:srgbClr val="0A0A0A"/>
                </a:solidFill>
                <a:latin typeface="Courier New"/>
              </a:rPr>
              <a:t>running = false;</a:t>
            </a:r>
          </a:p>
          <a:p>
            <a:pPr algn="l">
              <a:lnSpc>
                <a:spcPct val="130000"/>
              </a:lnSpc>
              <a:spcAft>
                <a:spcPts val="0"/>
              </a:spcAft>
            </a:pPr>
            <a:r>
              <a:rPr sz="1100" b="0">
                <a:solidFill>
                  <a:srgbClr val="0A0A0A"/>
                </a:solidFill>
                <a:latin typeface="Courier New"/>
              </a:rPr>
              <a:t>executor.shutdownNow();</a:t>
            </a:r>
          </a:p>
          <a:p>
            <a:pPr algn="l">
              <a:lnSpc>
                <a:spcPct val="130000"/>
              </a:lnSpc>
              <a:spcAft>
                <a:spcPts val="0"/>
              </a:spcAft>
            </a:pPr>
            <a:r>
              <a:rPr sz="1100" b="0">
                <a:solidFill>
                  <a:srgbClr val="0A0A0A"/>
                </a:solidFill>
                <a:latin typeface="Courier New"/>
              </a:rPr>
              <a:t>capture.release();</a:t>
            </a:r>
          </a:p>
        </p:txBody>
      </p:sp>
      <p:sp>
        <p:nvSpPr>
          <p:cNvPr id="19" name="TextBox 18"/>
          <p:cNvSpPr txBox="1"/>
          <p:nvPr/>
        </p:nvSpPr>
        <p:spPr>
          <a:xfrm>
            <a:off x="6739128" y="3401568"/>
            <a:ext cx="4389120" cy="457200"/>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Three statements, no wait between them.</a:t>
            </a:r>
          </a:p>
        </p:txBody>
      </p:sp>
      <p:sp>
        <p:nvSpPr>
          <p:cNvPr id="20" name="Rectangle 19"/>
          <p:cNvSpPr/>
          <p:nvPr/>
        </p:nvSpPr>
        <p:spPr>
          <a:xfrm>
            <a:off x="6446520" y="4087368"/>
            <a:ext cx="4965192" cy="169164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39128" y="4306824"/>
            <a:ext cx="2743200" cy="237744"/>
          </a:xfrm>
          <a:prstGeom prst="rect">
            <a:avLst/>
          </a:prstGeom>
          <a:noFill/>
        </p:spPr>
        <p:txBody>
          <a:bodyPr wrap="square" lIns="0" rIns="0" tIns="0" bIns="0" anchor="t">
            <a:spAutoFit/>
          </a:bodyPr>
          <a:lstStyle/>
          <a:p>
            <a:pPr algn="l">
              <a:spcAft>
                <a:spcPts val="0"/>
              </a:spcAft>
            </a:pPr>
            <a:r>
              <a:rPr sz="950" b="0" spc="100">
                <a:solidFill>
                  <a:srgbClr val="8A8A8A"/>
                </a:solidFill>
                <a:latin typeface="Courier New"/>
              </a:rPr>
              <a:t>NOW</a:t>
            </a:r>
          </a:p>
        </p:txBody>
      </p:sp>
      <p:sp>
        <p:nvSpPr>
          <p:cNvPr id="22" name="TextBox 21"/>
          <p:cNvSpPr txBox="1"/>
          <p:nvPr/>
        </p:nvSpPr>
        <p:spPr>
          <a:xfrm>
            <a:off x="6739128" y="4636007"/>
            <a:ext cx="4389120" cy="566928"/>
          </a:xfrm>
          <a:prstGeom prst="rect">
            <a:avLst/>
          </a:prstGeom>
          <a:noFill/>
        </p:spPr>
        <p:txBody>
          <a:bodyPr wrap="square" lIns="0" rIns="0" tIns="0" bIns="0" anchor="t">
            <a:spAutoFit/>
          </a:bodyPr>
          <a:lstStyle/>
          <a:p>
            <a:pPr algn="l">
              <a:lnSpc>
                <a:spcPct val="130000"/>
              </a:lnSpc>
              <a:spcAft>
                <a:spcPts val="0"/>
              </a:spcAft>
            </a:pPr>
            <a:r>
              <a:rPr sz="1100" b="0">
                <a:solidFill>
                  <a:srgbClr val="FFFFFF"/>
                </a:solidFill>
                <a:latin typeface="Courier New"/>
              </a:rPr>
              <a:t>stop scheduling</a:t>
            </a:r>
          </a:p>
          <a:p>
            <a:pPr algn="l">
              <a:lnSpc>
                <a:spcPct val="130000"/>
              </a:lnSpc>
              <a:spcAft>
                <a:spcPts val="0"/>
              </a:spcAft>
            </a:pPr>
            <a:r>
              <a:rPr sz="1100" b="0">
                <a:solidFill>
                  <a:srgbClr val="FFFFFF"/>
                </a:solidFill>
                <a:latin typeface="Courier New"/>
              </a:rPr>
              <a:t>await the pass in flight</a:t>
            </a:r>
          </a:p>
          <a:p>
            <a:pPr algn="l">
              <a:lnSpc>
                <a:spcPct val="130000"/>
              </a:lnSpc>
              <a:spcAft>
                <a:spcPts val="0"/>
              </a:spcAft>
            </a:pPr>
            <a:r>
              <a:rPr sz="1100" b="0">
                <a:solidFill>
                  <a:srgbClr val="FFFFFF"/>
                </a:solidFill>
                <a:latin typeface="Courier New"/>
              </a:rPr>
              <a:t>then release</a:t>
            </a:r>
          </a:p>
        </p:txBody>
      </p:sp>
      <p:sp>
        <p:nvSpPr>
          <p:cNvPr id="23" name="TextBox 22"/>
          <p:cNvSpPr txBox="1"/>
          <p:nvPr/>
        </p:nvSpPr>
        <p:spPr>
          <a:xfrm>
            <a:off x="6739128" y="5276088"/>
            <a:ext cx="4389120" cy="457200"/>
          </a:xfrm>
          <a:prstGeom prst="rect">
            <a:avLst/>
          </a:prstGeom>
          <a:noFill/>
        </p:spPr>
        <p:txBody>
          <a:bodyPr wrap="square" lIns="0" rIns="0" tIns="0" bIns="0" anchor="t">
            <a:spAutoFit/>
          </a:bodyPr>
          <a:lstStyle/>
          <a:p>
            <a:pPr algn="l">
              <a:lnSpc>
                <a:spcPct val="124000"/>
              </a:lnSpc>
              <a:spcAft>
                <a:spcPts val="0"/>
              </a:spcAft>
            </a:pPr>
            <a:r>
              <a:rPr sz="1100" b="0">
                <a:solidFill>
                  <a:srgbClr val="8A8A8A"/>
                </a:solidFill>
                <a:latin typeface="Calibri"/>
              </a:rPr>
              <a:t>If the wait times out the device is left open on purpose: a handle leaked until the process exits is recoverable, a crash is not.</a:t>
            </a:r>
          </a:p>
        </p:txBody>
      </p:sp>
      <p:sp>
        <p:nvSpPr>
          <p:cNvPr id="24" name="TextBox 23"/>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06 / WHO CAN DO WHAT</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Three roles, and the rail follows them</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240280"/>
            <a:ext cx="3271418" cy="278892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514600"/>
            <a:ext cx="2686202" cy="365760"/>
          </a:xfrm>
          <a:prstGeom prst="rect">
            <a:avLst/>
          </a:prstGeom>
          <a:noFill/>
        </p:spPr>
        <p:txBody>
          <a:bodyPr wrap="square" lIns="0" rIns="0" tIns="0" bIns="0" anchor="t">
            <a:spAutoFit/>
          </a:bodyPr>
          <a:lstStyle/>
          <a:p>
            <a:pPr algn="l">
              <a:spcAft>
                <a:spcPts val="0"/>
              </a:spcAft>
            </a:pPr>
            <a:r>
              <a:rPr sz="2200" b="0">
                <a:solidFill>
                  <a:srgbClr val="FFFFFF"/>
                </a:solidFill>
                <a:latin typeface="Century Schoolbook"/>
              </a:rPr>
              <a:t>Admin</a:t>
            </a:r>
          </a:p>
        </p:txBody>
      </p:sp>
      <p:sp>
        <p:nvSpPr>
          <p:cNvPr id="7" name="TextBox 6"/>
          <p:cNvSpPr txBox="1"/>
          <p:nvPr/>
        </p:nvSpPr>
        <p:spPr>
          <a:xfrm>
            <a:off x="1069848" y="2926080"/>
            <a:ext cx="2686202" cy="256032"/>
          </a:xfrm>
          <a:prstGeom prst="rect">
            <a:avLst/>
          </a:prstGeom>
          <a:noFill/>
        </p:spPr>
        <p:txBody>
          <a:bodyPr wrap="square" lIns="0" rIns="0" tIns="0" bIns="0" anchor="t">
            <a:spAutoFit/>
          </a:bodyPr>
          <a:lstStyle/>
          <a:p>
            <a:pPr algn="l">
              <a:spcAft>
                <a:spcPts val="0"/>
              </a:spcAft>
            </a:pPr>
            <a:r>
              <a:rPr sz="950" b="0" spc="50">
                <a:solidFill>
                  <a:srgbClr val="8A8A8A"/>
                </a:solidFill>
                <a:latin typeface="Courier New"/>
              </a:rPr>
              <a:t>hasRole('ADMIN')</a:t>
            </a:r>
          </a:p>
        </p:txBody>
      </p:sp>
      <p:sp>
        <p:nvSpPr>
          <p:cNvPr id="8" name="TextBox 7"/>
          <p:cNvSpPr txBox="1"/>
          <p:nvPr/>
        </p:nvSpPr>
        <p:spPr>
          <a:xfrm>
            <a:off x="1069848" y="3310128"/>
            <a:ext cx="2686202" cy="1554480"/>
          </a:xfrm>
          <a:prstGeom prst="rect">
            <a:avLst/>
          </a:prstGeom>
          <a:noFill/>
        </p:spPr>
        <p:txBody>
          <a:bodyPr wrap="square" lIns="0" rIns="0" tIns="0" bIns="0" anchor="t">
            <a:spAutoFit/>
          </a:bodyPr>
          <a:lstStyle/>
          <a:p>
            <a:pPr algn="l">
              <a:lnSpc>
                <a:spcPct val="124000"/>
              </a:lnSpc>
              <a:spcAft>
                <a:spcPts val="700"/>
              </a:spcAft>
            </a:pPr>
            <a:r>
              <a:rPr sz="1100" b="0">
                <a:solidFill>
                  <a:srgbClr val="8A8A8A"/>
                </a:solidFill>
                <a:latin typeface="Calibri"/>
              </a:rPr>
              <a:t>Adds, edits and removes roster rows.</a:t>
            </a:r>
          </a:p>
          <a:p>
            <a:pPr algn="l">
              <a:lnSpc>
                <a:spcPct val="124000"/>
              </a:lnSpc>
              <a:spcAft>
                <a:spcPts val="700"/>
              </a:spcAft>
            </a:pPr>
            <a:r>
              <a:rPr sz="1100" b="0">
                <a:solidFill>
                  <a:srgbClr val="8A8A8A"/>
                </a:solidFill>
                <a:latin typeface="Calibri"/>
              </a:rPr>
              <a:t>Owns the academic setup: departments, semesters, subjects, rooms and the timetable.</a:t>
            </a:r>
          </a:p>
          <a:p>
            <a:pPr algn="l">
              <a:lnSpc>
                <a:spcPct val="124000"/>
              </a:lnSpc>
              <a:spcAft>
                <a:spcPts val="700"/>
              </a:spcAft>
            </a:pPr>
            <a:r>
              <a:rPr sz="1100" b="0">
                <a:solidFill>
                  <a:srgbClr val="8A8A8A"/>
                </a:solidFill>
                <a:latin typeface="Calibri"/>
              </a:rPr>
              <a:t>Creates, enables, disables and re-roles accounts.</a:t>
            </a:r>
          </a:p>
          <a:p>
            <a:pPr algn="l">
              <a:lnSpc>
                <a:spcPct val="124000"/>
              </a:lnSpc>
              <a:spcAft>
                <a:spcPts val="700"/>
              </a:spcAft>
            </a:pPr>
            <a:r>
              <a:rPr sz="1100" b="0">
                <a:solidFill>
                  <a:srgbClr val="8A8A8A"/>
                </a:solidFill>
                <a:latin typeface="Calibri"/>
              </a:rPr>
              <a:t>Records attendance and exports it.</a:t>
            </a:r>
          </a:p>
        </p:txBody>
      </p:sp>
      <p:sp>
        <p:nvSpPr>
          <p:cNvPr id="9" name="Rectangle 8"/>
          <p:cNvSpPr/>
          <p:nvPr/>
        </p:nvSpPr>
        <p:spPr>
          <a:xfrm>
            <a:off x="4460138" y="2240280"/>
            <a:ext cx="3271418" cy="2788920"/>
          </a:xfrm>
          <a:prstGeom prst="rect">
            <a:avLst/>
          </a:prstGeom>
          <a:solidFill>
            <a:srgbClr val="F2F2F2"/>
          </a:solidFill>
          <a:ln w="9525">
            <a:solidFill>
              <a:srgbClr val="DEDE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52746" y="2514600"/>
            <a:ext cx="2686202" cy="365760"/>
          </a:xfrm>
          <a:prstGeom prst="rect">
            <a:avLst/>
          </a:prstGeom>
          <a:noFill/>
        </p:spPr>
        <p:txBody>
          <a:bodyPr wrap="square" lIns="0" rIns="0" tIns="0" bIns="0" anchor="t">
            <a:spAutoFit/>
          </a:bodyPr>
          <a:lstStyle/>
          <a:p>
            <a:pPr algn="l">
              <a:spcAft>
                <a:spcPts val="0"/>
              </a:spcAft>
            </a:pPr>
            <a:r>
              <a:rPr sz="2200" b="0">
                <a:solidFill>
                  <a:srgbClr val="0A0A0A"/>
                </a:solidFill>
                <a:latin typeface="Century Schoolbook"/>
              </a:rPr>
              <a:t>Teacher</a:t>
            </a:r>
          </a:p>
        </p:txBody>
      </p:sp>
      <p:sp>
        <p:nvSpPr>
          <p:cNvPr id="11" name="TextBox 10"/>
          <p:cNvSpPr txBox="1"/>
          <p:nvPr/>
        </p:nvSpPr>
        <p:spPr>
          <a:xfrm>
            <a:off x="4752746" y="2926080"/>
            <a:ext cx="2686202" cy="256032"/>
          </a:xfrm>
          <a:prstGeom prst="rect">
            <a:avLst/>
          </a:prstGeom>
          <a:noFill/>
        </p:spPr>
        <p:txBody>
          <a:bodyPr wrap="square" lIns="0" rIns="0" tIns="0" bIns="0" anchor="t">
            <a:spAutoFit/>
          </a:bodyPr>
          <a:lstStyle/>
          <a:p>
            <a:pPr algn="l">
              <a:spcAft>
                <a:spcPts val="0"/>
              </a:spcAft>
            </a:pPr>
            <a:r>
              <a:rPr sz="950" b="0" spc="50">
                <a:solidFill>
                  <a:srgbClr val="8A8A8A"/>
                </a:solidFill>
                <a:latin typeface="Courier New"/>
              </a:rPr>
              <a:t>hasAnyRole(...)</a:t>
            </a:r>
          </a:p>
        </p:txBody>
      </p:sp>
      <p:sp>
        <p:nvSpPr>
          <p:cNvPr id="12" name="TextBox 11"/>
          <p:cNvSpPr txBox="1"/>
          <p:nvPr/>
        </p:nvSpPr>
        <p:spPr>
          <a:xfrm>
            <a:off x="4752746" y="3310128"/>
            <a:ext cx="2686202" cy="1554480"/>
          </a:xfrm>
          <a:prstGeom prst="rect">
            <a:avLst/>
          </a:prstGeom>
          <a:noFill/>
        </p:spPr>
        <p:txBody>
          <a:bodyPr wrap="square" lIns="0" rIns="0" tIns="0" bIns="0" anchor="t">
            <a:spAutoFit/>
          </a:bodyPr>
          <a:lstStyle/>
          <a:p>
            <a:pPr algn="l">
              <a:lnSpc>
                <a:spcPct val="124000"/>
              </a:lnSpc>
              <a:spcAft>
                <a:spcPts val="700"/>
              </a:spcAft>
            </a:pPr>
            <a:r>
              <a:rPr sz="1100" b="0">
                <a:solidFill>
                  <a:srgbClr val="444444"/>
                </a:solidFill>
                <a:latin typeface="Calibri"/>
              </a:rPr>
              <a:t>Reads the roster, because enrolling a face needs the ID it belongs to.</a:t>
            </a:r>
          </a:p>
          <a:p>
            <a:pPr algn="l">
              <a:lnSpc>
                <a:spcPct val="124000"/>
              </a:lnSpc>
              <a:spcAft>
                <a:spcPts val="700"/>
              </a:spcAft>
            </a:pPr>
            <a:r>
              <a:rPr sz="1100" b="0">
                <a:solidFill>
                  <a:srgbClr val="444444"/>
                </a:solidFill>
                <a:latin typeface="Calibri"/>
              </a:rPr>
              <a:t>Records and corrects attendance, and exports the register.</a:t>
            </a:r>
          </a:p>
          <a:p>
            <a:pPr algn="l">
              <a:lnSpc>
                <a:spcPct val="124000"/>
              </a:lnSpc>
              <a:spcAft>
                <a:spcPts val="700"/>
              </a:spcAft>
            </a:pPr>
            <a:r>
              <a:rPr sz="1100" b="0">
                <a:solidFill>
                  <a:srgbClr val="444444"/>
                </a:solidFill>
                <a:latin typeface="Calibri"/>
              </a:rPr>
              <a:t>Reads the academic setup but cannot change it.</a:t>
            </a:r>
          </a:p>
        </p:txBody>
      </p:sp>
      <p:sp>
        <p:nvSpPr>
          <p:cNvPr id="13" name="Rectangle 12"/>
          <p:cNvSpPr/>
          <p:nvPr/>
        </p:nvSpPr>
        <p:spPr>
          <a:xfrm>
            <a:off x="8143036" y="2240280"/>
            <a:ext cx="3271418" cy="2788920"/>
          </a:xfrm>
          <a:prstGeom prst="rect">
            <a:avLst/>
          </a:prstGeom>
          <a:noFill/>
          <a:ln w="9525">
            <a:solidFill>
              <a:srgbClr val="DEDE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35644" y="2514600"/>
            <a:ext cx="2686202" cy="365760"/>
          </a:xfrm>
          <a:prstGeom prst="rect">
            <a:avLst/>
          </a:prstGeom>
          <a:noFill/>
        </p:spPr>
        <p:txBody>
          <a:bodyPr wrap="square" lIns="0" rIns="0" tIns="0" bIns="0" anchor="t">
            <a:spAutoFit/>
          </a:bodyPr>
          <a:lstStyle/>
          <a:p>
            <a:pPr algn="l">
              <a:spcAft>
                <a:spcPts val="0"/>
              </a:spcAft>
            </a:pPr>
            <a:r>
              <a:rPr sz="2200" b="0">
                <a:solidFill>
                  <a:srgbClr val="0A0A0A"/>
                </a:solidFill>
                <a:latin typeface="Century Schoolbook"/>
              </a:rPr>
              <a:t>Student</a:t>
            </a:r>
          </a:p>
        </p:txBody>
      </p:sp>
      <p:sp>
        <p:nvSpPr>
          <p:cNvPr id="15" name="TextBox 14"/>
          <p:cNvSpPr txBox="1"/>
          <p:nvPr/>
        </p:nvSpPr>
        <p:spPr>
          <a:xfrm>
            <a:off x="8435644" y="2926080"/>
            <a:ext cx="2686202" cy="256032"/>
          </a:xfrm>
          <a:prstGeom prst="rect">
            <a:avLst/>
          </a:prstGeom>
          <a:noFill/>
        </p:spPr>
        <p:txBody>
          <a:bodyPr wrap="square" lIns="0" rIns="0" tIns="0" bIns="0" anchor="t">
            <a:spAutoFit/>
          </a:bodyPr>
          <a:lstStyle/>
          <a:p>
            <a:pPr algn="l">
              <a:spcAft>
                <a:spcPts val="0"/>
              </a:spcAft>
            </a:pPr>
            <a:r>
              <a:rPr sz="950" b="0" spc="50">
                <a:solidFill>
                  <a:srgbClr val="8A8A8A"/>
                </a:solidFill>
                <a:latin typeface="Courier New"/>
              </a:rPr>
              <a:t>authenticated()</a:t>
            </a:r>
          </a:p>
        </p:txBody>
      </p:sp>
      <p:sp>
        <p:nvSpPr>
          <p:cNvPr id="16" name="TextBox 15"/>
          <p:cNvSpPr txBox="1"/>
          <p:nvPr/>
        </p:nvSpPr>
        <p:spPr>
          <a:xfrm>
            <a:off x="8435644" y="3310128"/>
            <a:ext cx="2686202" cy="1554480"/>
          </a:xfrm>
          <a:prstGeom prst="rect">
            <a:avLst/>
          </a:prstGeom>
          <a:noFill/>
        </p:spPr>
        <p:txBody>
          <a:bodyPr wrap="square" lIns="0" rIns="0" tIns="0" bIns="0" anchor="t">
            <a:spAutoFit/>
          </a:bodyPr>
          <a:lstStyle/>
          <a:p>
            <a:pPr algn="l">
              <a:lnSpc>
                <a:spcPct val="124000"/>
              </a:lnSpc>
              <a:spcAft>
                <a:spcPts val="700"/>
              </a:spcAft>
            </a:pPr>
            <a:r>
              <a:rPr sz="1100" b="0">
                <a:solidFill>
                  <a:srgbClr val="444444"/>
                </a:solidFill>
                <a:latin typeface="Calibri"/>
              </a:rPr>
              <a:t>Reads their own attendance and nothing else.</a:t>
            </a:r>
          </a:p>
          <a:p>
            <a:pPr algn="l">
              <a:lnSpc>
                <a:spcPct val="124000"/>
              </a:lnSpc>
              <a:spcAft>
                <a:spcPts val="700"/>
              </a:spcAft>
            </a:pPr>
            <a:r>
              <a:rPr sz="1100" b="0">
                <a:solidFill>
                  <a:srgbClr val="444444"/>
                </a:solidFill>
                <a:latin typeface="Calibri"/>
              </a:rPr>
              <a:t>The check is on the value of the ID in the path, not its shape, so it lives in code rather than in a URL pattern.</a:t>
            </a:r>
          </a:p>
          <a:p>
            <a:pPr algn="l">
              <a:lnSpc>
                <a:spcPct val="124000"/>
              </a:lnSpc>
              <a:spcAft>
                <a:spcPts val="700"/>
              </a:spcAft>
            </a:pPr>
            <a:r>
              <a:rPr sz="1100" b="0">
                <a:solidFill>
                  <a:srgbClr val="444444"/>
                </a:solidFill>
                <a:latin typeface="Calibri"/>
              </a:rPr>
              <a:t>Sees a rail with those screens missing, not greyed out.</a:t>
            </a:r>
          </a:p>
        </p:txBody>
      </p:sp>
      <p:cxnSp>
        <p:nvCxnSpPr>
          <p:cNvPr id="17" name="Connector 16"/>
          <p:cNvCxnSpPr/>
          <p:nvPr/>
        </p:nvCxnSpPr>
        <p:spPr>
          <a:xfrm>
            <a:off x="777240" y="5285232"/>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5486400"/>
            <a:ext cx="10607040" cy="237744"/>
          </a:xfrm>
          <a:prstGeom prst="rect">
            <a:avLst/>
          </a:prstGeom>
          <a:noFill/>
        </p:spPr>
        <p:txBody>
          <a:bodyPr wrap="square" lIns="0" rIns="0" tIns="0" bIns="0" anchor="t">
            <a:spAutoFit/>
          </a:bodyPr>
          <a:lstStyle/>
          <a:p>
            <a:pPr algn="l">
              <a:spcAft>
                <a:spcPts val="0"/>
              </a:spcAft>
            </a:pPr>
            <a:r>
              <a:rPr sz="1100" b="0" spc="90">
                <a:solidFill>
                  <a:srgbClr val="0A0A0A"/>
                </a:solidFill>
                <a:latin typeface="Courier New"/>
              </a:rPr>
              <a:t>ONE PERMISSION GOT NARROWER, NOT WIDER</a:t>
            </a:r>
          </a:p>
        </p:txBody>
      </p:sp>
      <p:sp>
        <p:nvSpPr>
          <p:cNvPr id="19" name="TextBox 18"/>
          <p:cNvSpPr txBox="1"/>
          <p:nvPr/>
        </p:nvSpPr>
        <p:spPr>
          <a:xfrm>
            <a:off x="777240" y="5760720"/>
            <a:ext cx="10607040" cy="2194560"/>
          </a:xfrm>
          <a:prstGeom prst="rect">
            <a:avLst/>
          </a:prstGeom>
          <a:noFill/>
        </p:spPr>
        <p:txBody>
          <a:bodyPr wrap="square" lIns="0" rIns="0" tIns="0" bIns="0" anchor="t">
            <a:spAutoFit/>
          </a:bodyPr>
          <a:lstStyle/>
          <a:p>
            <a:pPr algn="l">
              <a:lnSpc>
                <a:spcPct val="128000"/>
              </a:lnSpc>
              <a:spcAft>
                <a:spcPts val="500"/>
              </a:spcAft>
            </a:pPr>
            <a:r>
              <a:rPr sz="1250" b="0">
                <a:solidFill>
                  <a:srgbClr val="444444"/>
                </a:solidFill>
                <a:latin typeface="Calibri"/>
              </a:rPr>
              <a:t>POST, PUT and DELETE on /students moved from admin-or-teacher to admin only, because a roster row now owns the link to a sign-in account, the ID a face was enrolled under, and every attendance record pointing at it. Removing one is a records deletion, not a roster edit. Eight tests hold it.</a:t>
            </a:r>
          </a:p>
        </p:txBody>
      </p:sp>
      <p:sp>
        <p:nvSpPr>
          <p:cNvPr id="20" name="TextBox 19"/>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07 / SECURITY</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FFFFFF"/>
                </a:solidFill>
                <a:latin typeface="Century Schoolbook"/>
              </a:rPr>
              <a:t>The two that mattered</a:t>
            </a:r>
          </a:p>
        </p:txBody>
      </p:sp>
      <p:cxnSp>
        <p:nvCxnSpPr>
          <p:cNvPr id="4" name="Connector 3"/>
          <p:cNvCxnSpPr/>
          <p:nvPr/>
        </p:nvCxnSpPr>
        <p:spPr>
          <a:xfrm>
            <a:off x="777240" y="1938528"/>
            <a:ext cx="10637215"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212848"/>
            <a:ext cx="5089550" cy="3694176"/>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6424" y="2468880"/>
            <a:ext cx="2743200" cy="237744"/>
          </a:xfrm>
          <a:prstGeom prst="rect">
            <a:avLst/>
          </a:prstGeom>
          <a:noFill/>
        </p:spPr>
        <p:txBody>
          <a:bodyPr wrap="square" lIns="0" rIns="0" tIns="0" bIns="0" anchor="t">
            <a:spAutoFit/>
          </a:bodyPr>
          <a:lstStyle/>
          <a:p>
            <a:pPr algn="l">
              <a:spcAft>
                <a:spcPts val="0"/>
              </a:spcAft>
            </a:pPr>
            <a:r>
              <a:rPr sz="950" b="0" spc="100">
                <a:solidFill>
                  <a:srgbClr val="8A8A8A"/>
                </a:solidFill>
                <a:latin typeface="Courier New"/>
              </a:rPr>
              <a:t>FINDING 01</a:t>
            </a:r>
          </a:p>
        </p:txBody>
      </p:sp>
      <p:sp>
        <p:nvSpPr>
          <p:cNvPr id="7" name="TextBox 6"/>
          <p:cNvSpPr txBox="1"/>
          <p:nvPr/>
        </p:nvSpPr>
        <p:spPr>
          <a:xfrm>
            <a:off x="1106424" y="2779776"/>
            <a:ext cx="4434840" cy="640080"/>
          </a:xfrm>
          <a:prstGeom prst="rect">
            <a:avLst/>
          </a:prstGeom>
          <a:noFill/>
        </p:spPr>
        <p:txBody>
          <a:bodyPr wrap="square" lIns="0" rIns="0" tIns="0" bIns="0" anchor="t">
            <a:spAutoFit/>
          </a:bodyPr>
          <a:lstStyle/>
          <a:p>
            <a:pPr algn="l">
              <a:spcAft>
                <a:spcPts val="0"/>
              </a:spcAft>
            </a:pPr>
            <a:r>
              <a:rPr sz="1900" b="0">
                <a:solidFill>
                  <a:srgbClr val="FFFFFF"/>
                </a:solidFill>
                <a:latin typeface="Century Schoolbook"/>
              </a:rPr>
              <a:t>Anyone could read every student's attendance</a:t>
            </a:r>
          </a:p>
        </p:txBody>
      </p:sp>
      <p:sp>
        <p:nvSpPr>
          <p:cNvPr id="8" name="TextBox 7"/>
          <p:cNvSpPr txBox="1"/>
          <p:nvPr/>
        </p:nvSpPr>
        <p:spPr>
          <a:xfrm>
            <a:off x="1106424" y="3547872"/>
            <a:ext cx="4434840" cy="1280160"/>
          </a:xfrm>
          <a:prstGeom prst="rect">
            <a:avLst/>
          </a:prstGeom>
          <a:noFill/>
        </p:spPr>
        <p:txBody>
          <a:bodyPr wrap="square" lIns="0" rIns="0" tIns="0" bIns="0" anchor="t">
            <a:spAutoFit/>
          </a:bodyPr>
          <a:lstStyle/>
          <a:p>
            <a:pPr algn="l">
              <a:lnSpc>
                <a:spcPct val="126000"/>
              </a:lnSpc>
              <a:spcAft>
                <a:spcPts val="0"/>
              </a:spcAft>
            </a:pPr>
            <a:r>
              <a:rPr sz="1150" b="0">
                <a:solidFill>
                  <a:srgbClr val="8A8A8A"/>
                </a:solidFill>
                <a:latin typeface="Calibri"/>
              </a:rPr>
              <a:t>The attendance endpoints were guarded by authenticated() and nothing else, and sign-up is public - so the real boundary was anyone who fills in a form. studentId is a sequential database ID supplied by the caller, so one account could read every student's history by counting upwards from one.</a:t>
            </a:r>
          </a:p>
        </p:txBody>
      </p:sp>
      <p:sp>
        <p:nvSpPr>
          <p:cNvPr id="9" name="TextBox 8"/>
          <p:cNvSpPr txBox="1"/>
          <p:nvPr/>
        </p:nvSpPr>
        <p:spPr>
          <a:xfrm>
            <a:off x="1106424" y="4773168"/>
            <a:ext cx="2743200" cy="237744"/>
          </a:xfrm>
          <a:prstGeom prst="rect">
            <a:avLst/>
          </a:prstGeom>
          <a:noFill/>
        </p:spPr>
        <p:txBody>
          <a:bodyPr wrap="square" lIns="0" rIns="0" tIns="0" bIns="0" anchor="t">
            <a:spAutoFit/>
          </a:bodyPr>
          <a:lstStyle/>
          <a:p>
            <a:pPr algn="l">
              <a:spcAft>
                <a:spcPts val="0"/>
              </a:spcAft>
            </a:pPr>
            <a:r>
              <a:rPr sz="950" b="0" spc="100">
                <a:solidFill>
                  <a:srgbClr val="FFFFFF"/>
                </a:solidFill>
                <a:latin typeface="Courier New"/>
              </a:rPr>
              <a:t>NOW</a:t>
            </a:r>
          </a:p>
        </p:txBody>
      </p:sp>
      <p:sp>
        <p:nvSpPr>
          <p:cNvPr id="10" name="TextBox 9"/>
          <p:cNvSpPr txBox="1"/>
          <p:nvPr/>
        </p:nvSpPr>
        <p:spPr>
          <a:xfrm>
            <a:off x="1106424" y="5047488"/>
            <a:ext cx="4434840" cy="822960"/>
          </a:xfrm>
          <a:prstGeom prst="rect">
            <a:avLst/>
          </a:prstGeom>
          <a:noFill/>
        </p:spPr>
        <p:txBody>
          <a:bodyPr wrap="square" lIns="0" rIns="0" tIns="0" bIns="0" anchor="t">
            <a:spAutoFit/>
          </a:bodyPr>
          <a:lstStyle/>
          <a:p>
            <a:pPr algn="l">
              <a:lnSpc>
                <a:spcPct val="126000"/>
              </a:lnSpc>
              <a:spcAft>
                <a:spcPts val="0"/>
              </a:spcAft>
            </a:pPr>
            <a:r>
              <a:rPr sz="1150" b="0">
                <a:solidFill>
                  <a:srgbClr val="FFFFFF"/>
                </a:solidFill>
                <a:latin typeface="Calibri"/>
              </a:rPr>
              <a:t>AttendanceAccessPolicy is called from the controller, and refuses an unknown ID in the same words as one belonging to somebody else - so the endpoint cannot be used to learn which IDs exist.</a:t>
            </a:r>
          </a:p>
        </p:txBody>
      </p:sp>
      <p:sp>
        <p:nvSpPr>
          <p:cNvPr id="11" name="Rectangle 10"/>
          <p:cNvSpPr/>
          <p:nvPr/>
        </p:nvSpPr>
        <p:spPr>
          <a:xfrm>
            <a:off x="6323990" y="2212848"/>
            <a:ext cx="5089550" cy="3694176"/>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53174" y="2468880"/>
            <a:ext cx="2743200" cy="237744"/>
          </a:xfrm>
          <a:prstGeom prst="rect">
            <a:avLst/>
          </a:prstGeom>
          <a:noFill/>
        </p:spPr>
        <p:txBody>
          <a:bodyPr wrap="square" lIns="0" rIns="0" tIns="0" bIns="0" anchor="t">
            <a:spAutoFit/>
          </a:bodyPr>
          <a:lstStyle/>
          <a:p>
            <a:pPr algn="l">
              <a:spcAft>
                <a:spcPts val="0"/>
              </a:spcAft>
            </a:pPr>
            <a:r>
              <a:rPr sz="950" b="0" spc="100">
                <a:solidFill>
                  <a:srgbClr val="8A8A8A"/>
                </a:solidFill>
                <a:latin typeface="Courier New"/>
              </a:rPr>
              <a:t>FINDING 02</a:t>
            </a:r>
          </a:p>
        </p:txBody>
      </p:sp>
      <p:sp>
        <p:nvSpPr>
          <p:cNvPr id="13" name="TextBox 12"/>
          <p:cNvSpPr txBox="1"/>
          <p:nvPr/>
        </p:nvSpPr>
        <p:spPr>
          <a:xfrm>
            <a:off x="6653174" y="2779776"/>
            <a:ext cx="4434840" cy="640080"/>
          </a:xfrm>
          <a:prstGeom prst="rect">
            <a:avLst/>
          </a:prstGeom>
          <a:noFill/>
        </p:spPr>
        <p:txBody>
          <a:bodyPr wrap="square" lIns="0" rIns="0" tIns="0" bIns="0" anchor="t">
            <a:spAutoFit/>
          </a:bodyPr>
          <a:lstStyle/>
          <a:p>
            <a:pPr algn="l">
              <a:spcAft>
                <a:spcPts val="0"/>
              </a:spcAft>
            </a:pPr>
            <a:r>
              <a:rPr sz="1900" b="0">
                <a:solidFill>
                  <a:srgbClr val="FFFFFF"/>
                </a:solidFill>
                <a:latin typeface="Century Schoolbook"/>
              </a:rPr>
              <a:t>Anyone could make themselves an administrator</a:t>
            </a:r>
          </a:p>
        </p:txBody>
      </p:sp>
      <p:sp>
        <p:nvSpPr>
          <p:cNvPr id="14" name="TextBox 13"/>
          <p:cNvSpPr txBox="1"/>
          <p:nvPr/>
        </p:nvSpPr>
        <p:spPr>
          <a:xfrm>
            <a:off x="6653174" y="3547872"/>
            <a:ext cx="4434840" cy="1280160"/>
          </a:xfrm>
          <a:prstGeom prst="rect">
            <a:avLst/>
          </a:prstGeom>
          <a:noFill/>
        </p:spPr>
        <p:txBody>
          <a:bodyPr wrap="square" lIns="0" rIns="0" tIns="0" bIns="0" anchor="t">
            <a:spAutoFit/>
          </a:bodyPr>
          <a:lstStyle/>
          <a:p>
            <a:pPr algn="l">
              <a:lnSpc>
                <a:spcPct val="126000"/>
              </a:lnSpc>
              <a:spcAft>
                <a:spcPts val="0"/>
              </a:spcAft>
            </a:pPr>
            <a:r>
              <a:rPr sz="1150" b="0">
                <a:solidFill>
                  <a:srgbClr val="8A8A8A"/>
                </a:solidFill>
                <a:latin typeface="Calibri"/>
              </a:rPr>
              <a:t>POST /auth/register took the role field at face value. Adding one line to a JSON body minted an administrator account: no code, no approval, no trace. A URL pattern cannot express the missing rule, because the rule is about a value rather than a shape.</a:t>
            </a:r>
          </a:p>
        </p:txBody>
      </p:sp>
      <p:sp>
        <p:nvSpPr>
          <p:cNvPr id="15" name="TextBox 14"/>
          <p:cNvSpPr txBox="1"/>
          <p:nvPr/>
        </p:nvSpPr>
        <p:spPr>
          <a:xfrm>
            <a:off x="6653174" y="4773168"/>
            <a:ext cx="2743200" cy="237744"/>
          </a:xfrm>
          <a:prstGeom prst="rect">
            <a:avLst/>
          </a:prstGeom>
          <a:noFill/>
        </p:spPr>
        <p:txBody>
          <a:bodyPr wrap="square" lIns="0" rIns="0" tIns="0" bIns="0" anchor="t">
            <a:spAutoFit/>
          </a:bodyPr>
          <a:lstStyle/>
          <a:p>
            <a:pPr algn="l">
              <a:spcAft>
                <a:spcPts val="0"/>
              </a:spcAft>
            </a:pPr>
            <a:r>
              <a:rPr sz="950" b="0" spc="100">
                <a:solidFill>
                  <a:srgbClr val="FFFFFF"/>
                </a:solidFill>
                <a:latin typeface="Courier New"/>
              </a:rPr>
              <a:t>NOW</a:t>
            </a:r>
          </a:p>
        </p:txBody>
      </p:sp>
      <p:sp>
        <p:nvSpPr>
          <p:cNvPr id="16" name="TextBox 15"/>
          <p:cNvSpPr txBox="1"/>
          <p:nvPr/>
        </p:nvSpPr>
        <p:spPr>
          <a:xfrm>
            <a:off x="6653174" y="5047488"/>
            <a:ext cx="4434840" cy="822960"/>
          </a:xfrm>
          <a:prstGeom prst="rect">
            <a:avLst/>
          </a:prstGeom>
          <a:noFill/>
        </p:spPr>
        <p:txBody>
          <a:bodyPr wrap="square" lIns="0" rIns="0" tIns="0" bIns="0" anchor="t">
            <a:spAutoFit/>
          </a:bodyPr>
          <a:lstStyle/>
          <a:p>
            <a:pPr algn="l">
              <a:lnSpc>
                <a:spcPct val="126000"/>
              </a:lnSpc>
              <a:spcAft>
                <a:spcPts val="0"/>
              </a:spcAft>
            </a:pPr>
            <a:r>
              <a:rPr sz="1150" b="0">
                <a:solidFill>
                  <a:srgbClr val="FFFFFF"/>
                </a:solidFill>
                <a:latin typeface="Calibri"/>
              </a:rPr>
              <a:t>The server decides the role. A privileged role now requires a registration code that ships blank and therefore refuses, so the default install cannot mint staff at all.</a:t>
            </a:r>
          </a:p>
        </p:txBody>
      </p:sp>
      <p:sp>
        <p:nvSpPr>
          <p:cNvPr id="17" name="TextBox 16"/>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3A3A3A"/>
                </a:solidFill>
                <a:latin typeface="Courier New"/>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08 / DATA INTEGRITY</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Four ways the records could rot</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304288"/>
            <a:ext cx="201168" cy="20116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34440" y="2212848"/>
            <a:ext cx="9966960" cy="292608"/>
          </a:xfrm>
          <a:prstGeom prst="rect">
            <a:avLst/>
          </a:prstGeom>
          <a:noFill/>
        </p:spPr>
        <p:txBody>
          <a:bodyPr wrap="square" lIns="0" rIns="0" tIns="0" bIns="0" anchor="t">
            <a:spAutoFit/>
          </a:bodyPr>
          <a:lstStyle/>
          <a:p>
            <a:pPr algn="l">
              <a:spcAft>
                <a:spcPts val="0"/>
              </a:spcAft>
            </a:pPr>
            <a:r>
              <a:rPr sz="1600" b="0">
                <a:solidFill>
                  <a:srgbClr val="0A0A0A"/>
                </a:solidFill>
                <a:latin typeface="Century Schoolbook"/>
              </a:rPr>
              <a:t>Deleting a student left its attendance pointing at nothing</a:t>
            </a:r>
          </a:p>
        </p:txBody>
      </p:sp>
      <p:sp>
        <p:nvSpPr>
          <p:cNvPr id="7" name="TextBox 6"/>
          <p:cNvSpPr txBox="1"/>
          <p:nvPr/>
        </p:nvSpPr>
        <p:spPr>
          <a:xfrm>
            <a:off x="1234440" y="2560320"/>
            <a:ext cx="9966960" cy="548640"/>
          </a:xfrm>
          <a:prstGeom prst="rect">
            <a:avLst/>
          </a:prstGeom>
          <a:noFill/>
        </p:spPr>
        <p:txBody>
          <a:bodyPr wrap="square" lIns="0" rIns="0" tIns="0" bIns="0" anchor="t">
            <a:spAutoFit/>
          </a:bodyPr>
          <a:lstStyle/>
          <a:p>
            <a:pPr algn="l">
              <a:lnSpc>
                <a:spcPct val="124000"/>
              </a:lnSpc>
              <a:spcAft>
                <a:spcPts val="0"/>
              </a:spcAft>
            </a:pPr>
            <a:r>
              <a:rPr sz="1150" b="0">
                <a:solidFill>
                  <a:srgbClr val="444444"/>
                </a:solidFill>
                <a:latin typeface="Calibri"/>
              </a:rPr>
              <a:t>student_id, subject_id and classroom_id are plain Long columns with no foreign keys, so the delete succeeded and left rows counted in totals, attributable to nobody, unreadable in every export. Those deletes are now pre-checked and refused with a count of what is in the way.</a:t>
            </a:r>
          </a:p>
        </p:txBody>
      </p:sp>
      <p:sp>
        <p:nvSpPr>
          <p:cNvPr id="8" name="Rectangle 7"/>
          <p:cNvSpPr/>
          <p:nvPr/>
        </p:nvSpPr>
        <p:spPr>
          <a:xfrm>
            <a:off x="777240" y="3273552"/>
            <a:ext cx="201168" cy="20116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3182112"/>
            <a:ext cx="9966960" cy="292608"/>
          </a:xfrm>
          <a:prstGeom prst="rect">
            <a:avLst/>
          </a:prstGeom>
          <a:noFill/>
        </p:spPr>
        <p:txBody>
          <a:bodyPr wrap="square" lIns="0" rIns="0" tIns="0" bIns="0" anchor="t">
            <a:spAutoFit/>
          </a:bodyPr>
          <a:lstStyle/>
          <a:p>
            <a:pPr algn="l">
              <a:spcAft>
                <a:spcPts val="0"/>
              </a:spcAft>
            </a:pPr>
            <a:r>
              <a:rPr sz="1600" b="0">
                <a:solidFill>
                  <a:srgbClr val="0A0A0A"/>
                </a:solidFill>
                <a:latin typeface="Century Schoolbook"/>
              </a:rPr>
              <a:t>Attendance writes had no transaction, and swallowed their own errors</a:t>
            </a:r>
          </a:p>
        </p:txBody>
      </p:sp>
      <p:sp>
        <p:nvSpPr>
          <p:cNvPr id="10" name="TextBox 9"/>
          <p:cNvSpPr txBox="1"/>
          <p:nvPr/>
        </p:nvSpPr>
        <p:spPr>
          <a:xfrm>
            <a:off x="1234440" y="3529584"/>
            <a:ext cx="9966960" cy="548640"/>
          </a:xfrm>
          <a:prstGeom prst="rect">
            <a:avLst/>
          </a:prstGeom>
          <a:noFill/>
        </p:spPr>
        <p:txBody>
          <a:bodyPr wrap="square" lIns="0" rIns="0" tIns="0" bIns="0" anchor="t">
            <a:spAutoFit/>
          </a:bodyPr>
          <a:lstStyle/>
          <a:p>
            <a:pPr algn="l">
              <a:lnSpc>
                <a:spcPct val="124000"/>
              </a:lnSpc>
              <a:spcAft>
                <a:spcPts val="0"/>
              </a:spcAft>
            </a:pPr>
            <a:r>
              <a:rPr sz="1150" b="0">
                <a:solidFill>
                  <a:srgbClr val="444444"/>
                </a:solidFill>
                <a:latin typeface="Calibri"/>
              </a:rPr>
              <a:t>A half-written register reported success: the loop caught each row's exception and carried on. The writes are transactional now, and a failure is reported as a failure.</a:t>
            </a:r>
          </a:p>
        </p:txBody>
      </p:sp>
      <p:sp>
        <p:nvSpPr>
          <p:cNvPr id="11" name="Rectangle 10"/>
          <p:cNvSpPr/>
          <p:nvPr/>
        </p:nvSpPr>
        <p:spPr>
          <a:xfrm>
            <a:off x="777240" y="4242816"/>
            <a:ext cx="201168" cy="201168"/>
          </a:xfrm>
          <a:prstGeom prst="rect">
            <a:avLst/>
          </a:prstGeom>
          <a:solidFill>
            <a:srgbClr val="FFFFFF"/>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34440" y="4151376"/>
            <a:ext cx="9966960" cy="292608"/>
          </a:xfrm>
          <a:prstGeom prst="rect">
            <a:avLst/>
          </a:prstGeom>
          <a:noFill/>
        </p:spPr>
        <p:txBody>
          <a:bodyPr wrap="square" lIns="0" rIns="0" tIns="0" bIns="0" anchor="t">
            <a:spAutoFit/>
          </a:bodyPr>
          <a:lstStyle/>
          <a:p>
            <a:pPr algn="l">
              <a:spcAft>
                <a:spcPts val="0"/>
              </a:spcAft>
            </a:pPr>
            <a:r>
              <a:rPr sz="1600" b="0">
                <a:solidFill>
                  <a:srgbClr val="0A0A0A"/>
                </a:solidFill>
                <a:latin typeface="Century Schoolbook"/>
              </a:rPr>
              <a:t>A room could be double-booked</a:t>
            </a:r>
          </a:p>
        </p:txBody>
      </p:sp>
      <p:sp>
        <p:nvSpPr>
          <p:cNvPr id="13" name="TextBox 12"/>
          <p:cNvSpPr txBox="1"/>
          <p:nvPr/>
        </p:nvSpPr>
        <p:spPr>
          <a:xfrm>
            <a:off x="1234440" y="4498848"/>
            <a:ext cx="9966960" cy="548640"/>
          </a:xfrm>
          <a:prstGeom prst="rect">
            <a:avLst/>
          </a:prstGeom>
          <a:noFill/>
        </p:spPr>
        <p:txBody>
          <a:bodyPr wrap="square" lIns="0" rIns="0" tIns="0" bIns="0" anchor="t">
            <a:spAutoFit/>
          </a:bodyPr>
          <a:lstStyle/>
          <a:p>
            <a:pPr algn="l">
              <a:lnSpc>
                <a:spcPct val="124000"/>
              </a:lnSpc>
              <a:spcAft>
                <a:spcPts val="0"/>
              </a:spcAft>
            </a:pPr>
            <a:r>
              <a:rPr sz="1150" b="0">
                <a:solidFill>
                  <a:srgbClr val="444444"/>
                </a:solidFill>
                <a:latin typeface="Calibri"/>
              </a:rPr>
              <a:t>The clash check lived only in the client, against whatever copy of the timetable it happened to be holding, so two people booking at once both saw the room free and the server never asked. It is enforced there now, treating each class as half-open so back-to-back lectures do not clash.</a:t>
            </a:r>
          </a:p>
        </p:txBody>
      </p:sp>
      <p:sp>
        <p:nvSpPr>
          <p:cNvPr id="14" name="Rectangle 13"/>
          <p:cNvSpPr/>
          <p:nvPr/>
        </p:nvSpPr>
        <p:spPr>
          <a:xfrm>
            <a:off x="777240" y="5212079"/>
            <a:ext cx="201168" cy="2011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4440" y="5120640"/>
            <a:ext cx="9966960" cy="292608"/>
          </a:xfrm>
          <a:prstGeom prst="rect">
            <a:avLst/>
          </a:prstGeom>
          <a:noFill/>
        </p:spPr>
        <p:txBody>
          <a:bodyPr wrap="square" lIns="0" rIns="0" tIns="0" bIns="0" anchor="t">
            <a:spAutoFit/>
          </a:bodyPr>
          <a:lstStyle/>
          <a:p>
            <a:pPr algn="l">
              <a:spcAft>
                <a:spcPts val="0"/>
              </a:spcAft>
            </a:pPr>
            <a:r>
              <a:rPr sz="1600" b="0">
                <a:solidFill>
                  <a:srgbClr val="0A0A0A"/>
                </a:solidFill>
                <a:latin typeface="Century Schoolbook"/>
              </a:rPr>
              <a:t>The first run against real data would not start</a:t>
            </a:r>
          </a:p>
        </p:txBody>
      </p:sp>
      <p:sp>
        <p:nvSpPr>
          <p:cNvPr id="16" name="TextBox 15"/>
          <p:cNvSpPr txBox="1"/>
          <p:nvPr/>
        </p:nvSpPr>
        <p:spPr>
          <a:xfrm>
            <a:off x="1234440" y="5468112"/>
            <a:ext cx="9966960" cy="548640"/>
          </a:xfrm>
          <a:prstGeom prst="rect">
            <a:avLst/>
          </a:prstGeom>
          <a:noFill/>
        </p:spPr>
        <p:txBody>
          <a:bodyPr wrap="square" lIns="0" rIns="0" tIns="0" bIns="0" anchor="t">
            <a:spAutoFit/>
          </a:bodyPr>
          <a:lstStyle/>
          <a:p>
            <a:pPr algn="l">
              <a:lnSpc>
                <a:spcPct val="124000"/>
              </a:lnSpc>
              <a:spcAft>
                <a:spcPts val="0"/>
              </a:spcAft>
            </a:pPr>
            <a:r>
              <a:rPr sz="1150" b="0">
                <a:solidFill>
                  <a:srgbClr val="444444"/>
                </a:solidFill>
                <a:latin typeface="Calibri"/>
              </a:rPr>
              <a:t>A CHECK constraint written by an older annotation disagreed with the entity, and ddl-auto=update never revisits a constraint it wrote earlier. SchemaConstraintRepair compares the recorded clause against the entity's own bounds, drops what disagrees and installs what is missing.</a:t>
            </a:r>
          </a:p>
        </p:txBody>
      </p:sp>
      <p:sp>
        <p:nvSpPr>
          <p:cNvPr id="17" name="TextBox 16"/>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09 / THE REGISTER</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It says who, not which row</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212848"/>
            <a:ext cx="10637215" cy="8961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359152"/>
            <a:ext cx="5486400" cy="219456"/>
          </a:xfrm>
          <a:prstGeom prst="rect">
            <a:avLst/>
          </a:prstGeom>
          <a:noFill/>
        </p:spPr>
        <p:txBody>
          <a:bodyPr wrap="square" lIns="0" rIns="0" tIns="0" bIns="0" anchor="t">
            <a:spAutoFit/>
          </a:bodyPr>
          <a:lstStyle/>
          <a:p>
            <a:pPr algn="l">
              <a:spcAft>
                <a:spcPts val="0"/>
              </a:spcAft>
            </a:pPr>
            <a:r>
              <a:rPr sz="900" b="0" spc="100">
                <a:solidFill>
                  <a:srgbClr val="8A8A8A"/>
                </a:solidFill>
                <a:latin typeface="Courier New"/>
              </a:rPr>
              <a:t>WHAT THE TABLE PRINTED</a:t>
            </a:r>
          </a:p>
        </p:txBody>
      </p:sp>
      <p:sp>
        <p:nvSpPr>
          <p:cNvPr id="7" name="TextBox 6"/>
          <p:cNvSpPr txBox="1"/>
          <p:nvPr/>
        </p:nvSpPr>
        <p:spPr>
          <a:xfrm>
            <a:off x="1069848" y="2651760"/>
            <a:ext cx="9966960" cy="310896"/>
          </a:xfrm>
          <a:prstGeom prst="rect">
            <a:avLst/>
          </a:prstGeom>
          <a:noFill/>
        </p:spPr>
        <p:txBody>
          <a:bodyPr wrap="square" lIns="0" rIns="0" tIns="0" bIns="0" anchor="t">
            <a:spAutoFit/>
          </a:bodyPr>
          <a:lstStyle/>
          <a:p>
            <a:pPr algn="l">
              <a:spcAft>
                <a:spcPts val="0"/>
              </a:spcAft>
            </a:pPr>
            <a:r>
              <a:rPr sz="1300" b="0">
                <a:solidFill>
                  <a:srgbClr val="444444"/>
                </a:solidFill>
                <a:latin typeface="Courier New"/>
              </a:rPr>
              <a:t>2  |  Student 1  |  Room 2  |  Subject 2  |  PRESENT</a:t>
            </a:r>
          </a:p>
        </p:txBody>
      </p:sp>
      <p:sp>
        <p:nvSpPr>
          <p:cNvPr id="8" name="Rectangle 7"/>
          <p:cNvSpPr/>
          <p:nvPr/>
        </p:nvSpPr>
        <p:spPr>
          <a:xfrm>
            <a:off x="777240" y="3255264"/>
            <a:ext cx="10637215" cy="896112"/>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9848" y="3401568"/>
            <a:ext cx="5486400" cy="219456"/>
          </a:xfrm>
          <a:prstGeom prst="rect">
            <a:avLst/>
          </a:prstGeom>
          <a:noFill/>
        </p:spPr>
        <p:txBody>
          <a:bodyPr wrap="square" lIns="0" rIns="0" tIns="0" bIns="0" anchor="t">
            <a:spAutoFit/>
          </a:bodyPr>
          <a:lstStyle/>
          <a:p>
            <a:pPr algn="l">
              <a:spcAft>
                <a:spcPts val="0"/>
              </a:spcAft>
            </a:pPr>
            <a:r>
              <a:rPr sz="900" b="0" spc="100">
                <a:solidFill>
                  <a:srgbClr val="8A8A8A"/>
                </a:solidFill>
                <a:latin typeface="Courier New"/>
              </a:rPr>
              <a:t>WHAT IT PRINTS NOW</a:t>
            </a:r>
          </a:p>
        </p:txBody>
      </p:sp>
      <p:sp>
        <p:nvSpPr>
          <p:cNvPr id="10" name="TextBox 9"/>
          <p:cNvSpPr txBox="1"/>
          <p:nvPr/>
        </p:nvSpPr>
        <p:spPr>
          <a:xfrm>
            <a:off x="1069848" y="3694176"/>
            <a:ext cx="9966960" cy="310896"/>
          </a:xfrm>
          <a:prstGeom prst="rect">
            <a:avLst/>
          </a:prstGeom>
          <a:noFill/>
        </p:spPr>
        <p:txBody>
          <a:bodyPr wrap="square" lIns="0" rIns="0" tIns="0" bIns="0" anchor="t">
            <a:spAutoFit/>
          </a:bodyPr>
          <a:lstStyle/>
          <a:p>
            <a:pPr algn="l">
              <a:spcAft>
                <a:spcPts val="0"/>
              </a:spcAft>
            </a:pPr>
            <a:r>
              <a:rPr sz="1300" b="0">
                <a:solidFill>
                  <a:srgbClr val="FFFFFF"/>
                </a:solidFill>
                <a:latin typeface="Courier New"/>
              </a:rPr>
              <a:t>2  |  Anita Shrestha  |  A  |  404, Hall  |  cse212 - oop  |  PRESENT</a:t>
            </a:r>
          </a:p>
        </p:txBody>
      </p:sp>
      <p:sp>
        <p:nvSpPr>
          <p:cNvPr id="11" name="TextBox 10"/>
          <p:cNvSpPr txBox="1"/>
          <p:nvPr/>
        </p:nvSpPr>
        <p:spPr>
          <a:xfrm>
            <a:off x="777240" y="4443984"/>
            <a:ext cx="5089550" cy="237744"/>
          </a:xfrm>
          <a:prstGeom prst="rect">
            <a:avLst/>
          </a:prstGeom>
          <a:noFill/>
        </p:spPr>
        <p:txBody>
          <a:bodyPr wrap="square" lIns="0" rIns="0" tIns="0" bIns="0" anchor="t">
            <a:spAutoFit/>
          </a:bodyPr>
          <a:lstStyle/>
          <a:p>
            <a:pPr algn="l">
              <a:spcAft>
                <a:spcPts val="0"/>
              </a:spcAft>
            </a:pPr>
            <a:r>
              <a:rPr sz="1100" b="0" spc="90">
                <a:solidFill>
                  <a:srgbClr val="0A0A0A"/>
                </a:solidFill>
                <a:latin typeface="Courier New"/>
              </a:rPr>
              <a:t>WHY IT SAID THAT</a:t>
            </a:r>
          </a:p>
        </p:txBody>
      </p:sp>
      <p:sp>
        <p:nvSpPr>
          <p:cNvPr id="12" name="TextBox 11"/>
          <p:cNvSpPr txBox="1"/>
          <p:nvPr/>
        </p:nvSpPr>
        <p:spPr>
          <a:xfrm>
            <a:off x="777240" y="4718304"/>
            <a:ext cx="5089550" cy="2194560"/>
          </a:xfrm>
          <a:prstGeom prst="rect">
            <a:avLst/>
          </a:prstGeom>
          <a:noFill/>
        </p:spPr>
        <p:txBody>
          <a:bodyPr wrap="square" lIns="0" rIns="0" tIns="0" bIns="0" anchor="t">
            <a:spAutoFit/>
          </a:bodyPr>
          <a:lstStyle/>
          <a:p>
            <a:pPr algn="l">
              <a:lnSpc>
                <a:spcPct val="128000"/>
              </a:lnSpc>
              <a:spcAft>
                <a:spcPts val="500"/>
              </a:spcAft>
            </a:pPr>
            <a:r>
              <a:rPr sz="1250" b="0">
                <a:solidFill>
                  <a:srgbClr val="444444"/>
                </a:solidFill>
                <a:latin typeface="Calibri"/>
              </a:rPr>
              <a:t>All three read endpoints returned the stored rows unchanged, and Attendance keeps the student, the subject and the room as bare Long columns. The one screen whose purpose is to be read by a person was naming records by their position in a table.</a:t>
            </a:r>
          </a:p>
          <a:p>
            <a:pPr algn="l">
              <a:lnSpc>
                <a:spcPct val="128000"/>
              </a:lnSpc>
              <a:spcAft>
                <a:spcPts val="500"/>
              </a:spcAft>
            </a:pPr>
            <a:r>
              <a:rPr sz="1250" b="0">
                <a:solidFill>
                  <a:srgbClr val="444444"/>
                </a:solidFill>
                <a:latin typeface="Calibri"/>
              </a:rPr>
              <a:t>They return RegisterEntry now, and RegisterView resolves the IDs in bulk - three queries for a whole register, not one per row.</a:t>
            </a:r>
          </a:p>
        </p:txBody>
      </p:sp>
      <p:sp>
        <p:nvSpPr>
          <p:cNvPr id="13" name="TextBox 12"/>
          <p:cNvSpPr txBox="1"/>
          <p:nvPr/>
        </p:nvSpPr>
        <p:spPr>
          <a:xfrm>
            <a:off x="6323990" y="4443984"/>
            <a:ext cx="5089550" cy="237744"/>
          </a:xfrm>
          <a:prstGeom prst="rect">
            <a:avLst/>
          </a:prstGeom>
          <a:noFill/>
        </p:spPr>
        <p:txBody>
          <a:bodyPr wrap="square" lIns="0" rIns="0" tIns="0" bIns="0" anchor="t">
            <a:spAutoFit/>
          </a:bodyPr>
          <a:lstStyle/>
          <a:p>
            <a:pPr algn="l">
              <a:spcAft>
                <a:spcPts val="0"/>
              </a:spcAft>
            </a:pPr>
            <a:r>
              <a:rPr sz="1100" b="0" spc="90">
                <a:solidFill>
                  <a:srgbClr val="0A0A0A"/>
                </a:solidFill>
                <a:latin typeface="Courier New"/>
              </a:rPr>
              <a:t>SECTION, AND EDITABLE ROWS</a:t>
            </a:r>
          </a:p>
        </p:txBody>
      </p:sp>
      <p:sp>
        <p:nvSpPr>
          <p:cNvPr id="14" name="TextBox 13"/>
          <p:cNvSpPr txBox="1"/>
          <p:nvPr/>
        </p:nvSpPr>
        <p:spPr>
          <a:xfrm>
            <a:off x="6323990" y="4718304"/>
            <a:ext cx="5089550" cy="2194560"/>
          </a:xfrm>
          <a:prstGeom prst="rect">
            <a:avLst/>
          </a:prstGeom>
          <a:noFill/>
        </p:spPr>
        <p:txBody>
          <a:bodyPr wrap="square" lIns="0" rIns="0" tIns="0" bIns="0" anchor="t">
            <a:spAutoFit/>
          </a:bodyPr>
          <a:lstStyle/>
          <a:p>
            <a:pPr algn="l">
              <a:lnSpc>
                <a:spcPct val="128000"/>
              </a:lnSpc>
              <a:spcAft>
                <a:spcPts val="500"/>
              </a:spcAft>
            </a:pPr>
            <a:r>
              <a:rPr sz="1250" b="0">
                <a:solidFill>
                  <a:srgbClr val="444444"/>
                </a:solidFill>
                <a:latin typeface="Calibri"/>
              </a:rPr>
              <a:t>Nothing in the codebase had a concept of a section, so it is a new nullable 40-character label on Student: optional everywhere, shown on the roster, the register and both exports, and nothing computes from it.</a:t>
            </a:r>
          </a:p>
          <a:p>
            <a:pPr algn="l">
              <a:lnSpc>
                <a:spcPct val="128000"/>
              </a:lnSpc>
              <a:spcAft>
                <a:spcPts val="500"/>
              </a:spcAft>
            </a:pPr>
            <a:r>
              <a:rPr sz="1250" b="0">
                <a:solidFill>
                  <a:srgbClr val="444444"/>
                </a:solidFill>
                <a:latin typeface="Calibri"/>
              </a:rPr>
              <a:t>Putting one on students who already exist needed the roster to be editable, which it was not: PUT /students/{id} had existed the whole time with nothing calling it.</a:t>
            </a:r>
          </a:p>
        </p:txBody>
      </p:sp>
      <p:sp>
        <p:nvSpPr>
          <p:cNvPr id="15" name="TextBox 14"/>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10 / DESIGN</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FFFFFF"/>
                </a:solidFill>
                <a:latin typeface="Century Schoolbook"/>
              </a:rPr>
              <a:t>No hue anywhere</a:t>
            </a:r>
          </a:p>
        </p:txBody>
      </p:sp>
      <p:cxnSp>
        <p:nvCxnSpPr>
          <p:cNvPr id="4" name="Connector 3"/>
          <p:cNvCxnSpPr/>
          <p:nvPr/>
        </p:nvCxnSpPr>
        <p:spPr>
          <a:xfrm>
            <a:off x="777240" y="1938528"/>
            <a:ext cx="10637215"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2240280"/>
            <a:ext cx="5532120" cy="3291840"/>
          </a:xfrm>
          <a:prstGeom prst="rect">
            <a:avLst/>
          </a:prstGeom>
          <a:noFill/>
        </p:spPr>
        <p:txBody>
          <a:bodyPr wrap="square" lIns="0" rIns="0" tIns="0" bIns="0" anchor="t">
            <a:spAutoFit/>
          </a:bodyPr>
          <a:lstStyle/>
          <a:p>
            <a:pPr algn="l">
              <a:lnSpc>
                <a:spcPct val="130000"/>
              </a:lnSpc>
              <a:spcAft>
                <a:spcPts val="900"/>
              </a:spcAft>
            </a:pPr>
            <a:r>
              <a:rPr sz="1200" b="0">
                <a:solidFill>
                  <a:srgbClr val="8A8A8A"/>
                </a:solidFill>
                <a:latin typeface="Calibri"/>
              </a:rPr>
              <a:t>The client is black and white because that is what was asked for, and the stylesheet holds no hue at all: 37 hex values across 1419 lines, every one a pure grey. So each rule answers how loud something should be rather than what colour it is.</a:t>
            </a:r>
          </a:p>
          <a:p>
            <a:pPr algn="l">
              <a:lnSpc>
                <a:spcPct val="130000"/>
              </a:lnSpc>
              <a:spcAft>
                <a:spcPts val="900"/>
              </a:spcAft>
            </a:pPr>
            <a:r>
              <a:rPr sz="1200" b="0">
                <a:solidFill>
                  <a:srgbClr val="8A8A8A"/>
                </a:solidFill>
                <a:latin typeface="Calibri"/>
              </a:rPr>
              <a:t>Where hue had been the only signal it was replaced with something that survives a colour-blind reader, a photocopier and a dim projector - border width for a refused field, shape for the camera lamp, fill against outline for a destructive button.</a:t>
            </a:r>
          </a:p>
          <a:p>
            <a:pPr algn="l">
              <a:lnSpc>
                <a:spcPct val="130000"/>
              </a:lnSpc>
              <a:spcAft>
                <a:spcPts val="900"/>
              </a:spcAft>
            </a:pPr>
            <a:r>
              <a:rPr sz="1200" b="0">
                <a:solidFill>
                  <a:srgbClr val="8A8A8A"/>
                </a:solidFill>
                <a:latin typeface="Calibri"/>
              </a:rPr>
              <a:t>Two places drew outside the stylesheet, where no CSS change could reach them. The overlay on the live video is two inks and three shapes, every stroke drawn dark underneath and light on top, because a camera frame is the one surface whose background cannot be predicted. And both export writers used to flag low attendance in red - the worst place for it, since a register gets printed, and on a photocopy a red figure is just a grey figure.</a:t>
            </a:r>
          </a:p>
        </p:txBody>
      </p:sp>
      <p:sp>
        <p:nvSpPr>
          <p:cNvPr id="6" name="Rectangle 5"/>
          <p:cNvSpPr/>
          <p:nvPr/>
        </p:nvSpPr>
        <p:spPr>
          <a:xfrm>
            <a:off x="6720840" y="2240280"/>
            <a:ext cx="4690872" cy="3566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50024" y="2514600"/>
            <a:ext cx="4023360" cy="237744"/>
          </a:xfrm>
          <a:prstGeom prst="rect">
            <a:avLst/>
          </a:prstGeom>
          <a:noFill/>
        </p:spPr>
        <p:txBody>
          <a:bodyPr wrap="square" lIns="0" rIns="0" tIns="0" bIns="0" anchor="t">
            <a:spAutoFit/>
          </a:bodyPr>
          <a:lstStyle/>
          <a:p>
            <a:pPr algn="l">
              <a:spcAft>
                <a:spcPts val="0"/>
              </a:spcAft>
            </a:pPr>
            <a:r>
              <a:rPr sz="950" b="0" spc="100">
                <a:solidFill>
                  <a:srgbClr val="8A8A8A"/>
                </a:solidFill>
                <a:latin typeface="Courier New"/>
              </a:rPr>
              <a:t>ATTENDANCE, BY FILL WEIGHT</a:t>
            </a:r>
          </a:p>
        </p:txBody>
      </p:sp>
      <p:sp>
        <p:nvSpPr>
          <p:cNvPr id="8" name="Rectangle 7"/>
          <p:cNvSpPr/>
          <p:nvPr/>
        </p:nvSpPr>
        <p:spPr>
          <a:xfrm>
            <a:off x="7050024" y="3017520"/>
            <a:ext cx="1481328" cy="402336"/>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50024" y="3118103"/>
            <a:ext cx="1481328" cy="237744"/>
          </a:xfrm>
          <a:prstGeom prst="rect">
            <a:avLst/>
          </a:prstGeom>
          <a:noFill/>
        </p:spPr>
        <p:txBody>
          <a:bodyPr wrap="square" lIns="0" rIns="0" tIns="0" bIns="0" anchor="t">
            <a:spAutoFit/>
          </a:bodyPr>
          <a:lstStyle/>
          <a:p>
            <a:pPr algn="ctr">
              <a:spcAft>
                <a:spcPts val="0"/>
              </a:spcAft>
            </a:pPr>
            <a:r>
              <a:rPr sz="1050" b="1" spc="80">
                <a:solidFill>
                  <a:srgbClr val="FFFFFF"/>
                </a:solidFill>
                <a:latin typeface="Calibri"/>
              </a:rPr>
              <a:t>ABSENT</a:t>
            </a:r>
          </a:p>
        </p:txBody>
      </p:sp>
      <p:sp>
        <p:nvSpPr>
          <p:cNvPr id="10" name="TextBox 9"/>
          <p:cNvSpPr txBox="1"/>
          <p:nvPr/>
        </p:nvSpPr>
        <p:spPr>
          <a:xfrm>
            <a:off x="8778240" y="3108960"/>
            <a:ext cx="2377440" cy="457200"/>
          </a:xfrm>
          <a:prstGeom prst="rect">
            <a:avLst/>
          </a:prstGeom>
          <a:noFill/>
        </p:spPr>
        <p:txBody>
          <a:bodyPr wrap="square" lIns="0" rIns="0" tIns="0" bIns="0" anchor="t">
            <a:spAutoFit/>
          </a:bodyPr>
          <a:lstStyle/>
          <a:p>
            <a:pPr algn="l">
              <a:lnSpc>
                <a:spcPct val="120000"/>
              </a:lnSpc>
              <a:spcAft>
                <a:spcPts val="0"/>
              </a:spcAft>
            </a:pPr>
            <a:r>
              <a:rPr sz="1100" b="0">
                <a:solidFill>
                  <a:srgbClr val="444444"/>
                </a:solidFill>
                <a:latin typeface="Calibri"/>
              </a:rPr>
              <a:t>solid field - the loudest</a:t>
            </a:r>
          </a:p>
        </p:txBody>
      </p:sp>
      <p:sp>
        <p:nvSpPr>
          <p:cNvPr id="11" name="Rectangle 10"/>
          <p:cNvSpPr/>
          <p:nvPr/>
        </p:nvSpPr>
        <p:spPr>
          <a:xfrm>
            <a:off x="7050024" y="3803904"/>
            <a:ext cx="1481328" cy="402336"/>
          </a:xfrm>
          <a:prstGeom prst="rect">
            <a:avLst/>
          </a:prstGeom>
          <a:no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050024" y="3904488"/>
            <a:ext cx="1481328" cy="237744"/>
          </a:xfrm>
          <a:prstGeom prst="rect">
            <a:avLst/>
          </a:prstGeom>
          <a:noFill/>
        </p:spPr>
        <p:txBody>
          <a:bodyPr wrap="square" lIns="0" rIns="0" tIns="0" bIns="0" anchor="t">
            <a:spAutoFit/>
          </a:bodyPr>
          <a:lstStyle/>
          <a:p>
            <a:pPr algn="ctr">
              <a:spcAft>
                <a:spcPts val="0"/>
              </a:spcAft>
            </a:pPr>
            <a:r>
              <a:rPr sz="1050" b="1" spc="80">
                <a:solidFill>
                  <a:srgbClr val="111111"/>
                </a:solidFill>
                <a:latin typeface="Calibri"/>
              </a:rPr>
              <a:t>LATE</a:t>
            </a:r>
          </a:p>
        </p:txBody>
      </p:sp>
      <p:sp>
        <p:nvSpPr>
          <p:cNvPr id="13" name="TextBox 12"/>
          <p:cNvSpPr txBox="1"/>
          <p:nvPr/>
        </p:nvSpPr>
        <p:spPr>
          <a:xfrm>
            <a:off x="8778240" y="3895344"/>
            <a:ext cx="2377440" cy="457200"/>
          </a:xfrm>
          <a:prstGeom prst="rect">
            <a:avLst/>
          </a:prstGeom>
          <a:noFill/>
        </p:spPr>
        <p:txBody>
          <a:bodyPr wrap="square" lIns="0" rIns="0" tIns="0" bIns="0" anchor="t">
            <a:spAutoFit/>
          </a:bodyPr>
          <a:lstStyle/>
          <a:p>
            <a:pPr algn="l">
              <a:lnSpc>
                <a:spcPct val="120000"/>
              </a:lnSpc>
              <a:spcAft>
                <a:spcPts val="0"/>
              </a:spcAft>
            </a:pPr>
            <a:r>
              <a:rPr sz="1100" b="0">
                <a:solidFill>
                  <a:srgbClr val="444444"/>
                </a:solidFill>
                <a:latin typeface="Calibri"/>
              </a:rPr>
              <a:t>the only outlined state</a:t>
            </a:r>
          </a:p>
        </p:txBody>
      </p:sp>
      <p:sp>
        <p:nvSpPr>
          <p:cNvPr id="14" name="Rectangle 13"/>
          <p:cNvSpPr/>
          <p:nvPr/>
        </p:nvSpPr>
        <p:spPr>
          <a:xfrm>
            <a:off x="7050024" y="4590288"/>
            <a:ext cx="1481328" cy="402336"/>
          </a:xfrm>
          <a:prstGeom prst="rect">
            <a:avLst/>
          </a:prstGeom>
          <a:solidFill>
            <a:srgbClr val="E7E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050024" y="4690872"/>
            <a:ext cx="1481328" cy="237744"/>
          </a:xfrm>
          <a:prstGeom prst="rect">
            <a:avLst/>
          </a:prstGeom>
          <a:noFill/>
        </p:spPr>
        <p:txBody>
          <a:bodyPr wrap="square" lIns="0" rIns="0" tIns="0" bIns="0" anchor="t">
            <a:spAutoFit/>
          </a:bodyPr>
          <a:lstStyle/>
          <a:p>
            <a:pPr algn="ctr">
              <a:spcAft>
                <a:spcPts val="0"/>
              </a:spcAft>
            </a:pPr>
            <a:r>
              <a:rPr sz="1050" b="1" spc="80">
                <a:solidFill>
                  <a:srgbClr val="4E4E4E"/>
                </a:solidFill>
                <a:latin typeface="Calibri"/>
              </a:rPr>
              <a:t>PRESENT</a:t>
            </a:r>
          </a:p>
        </p:txBody>
      </p:sp>
      <p:sp>
        <p:nvSpPr>
          <p:cNvPr id="16" name="TextBox 15"/>
          <p:cNvSpPr txBox="1"/>
          <p:nvPr/>
        </p:nvSpPr>
        <p:spPr>
          <a:xfrm>
            <a:off x="8778240" y="4681727"/>
            <a:ext cx="2377440" cy="457200"/>
          </a:xfrm>
          <a:prstGeom prst="rect">
            <a:avLst/>
          </a:prstGeom>
          <a:noFill/>
        </p:spPr>
        <p:txBody>
          <a:bodyPr wrap="square" lIns="0" rIns="0" tIns="0" bIns="0" anchor="t">
            <a:spAutoFit/>
          </a:bodyPr>
          <a:lstStyle/>
          <a:p>
            <a:pPr algn="l">
              <a:lnSpc>
                <a:spcPct val="120000"/>
              </a:lnSpc>
              <a:spcAft>
                <a:spcPts val="0"/>
              </a:spcAft>
            </a:pPr>
            <a:r>
              <a:rPr sz="1100" b="0">
                <a:solidFill>
                  <a:srgbClr val="444444"/>
                </a:solidFill>
                <a:latin typeface="Calibri"/>
              </a:rPr>
              <a:t>pale field - the expected case</a:t>
            </a:r>
          </a:p>
        </p:txBody>
      </p:sp>
      <p:sp>
        <p:nvSpPr>
          <p:cNvPr id="17" name="TextBox 16"/>
          <p:cNvSpPr txBox="1"/>
          <p:nvPr/>
        </p:nvSpPr>
        <p:spPr>
          <a:xfrm>
            <a:off x="7050024" y="5413248"/>
            <a:ext cx="4023360" cy="274320"/>
          </a:xfrm>
          <a:prstGeom prst="rect">
            <a:avLst/>
          </a:prstGeom>
          <a:noFill/>
        </p:spPr>
        <p:txBody>
          <a:bodyPr wrap="square" lIns="0" rIns="0" tIns="0" bIns="0" anchor="t">
            <a:spAutoFit/>
          </a:bodyPr>
          <a:lstStyle/>
          <a:p>
            <a:pPr algn="l">
              <a:spcAft>
                <a:spcPts val="0"/>
              </a:spcAft>
            </a:pPr>
            <a:r>
              <a:rPr sz="900" b="0">
                <a:solidFill>
                  <a:srgbClr val="8A8A8A"/>
                </a:solidFill>
                <a:latin typeface="Courier New"/>
              </a:rPr>
              <a:t>EXCUSED falls through to a neutral badge.</a:t>
            </a:r>
          </a:p>
        </p:txBody>
      </p:sp>
      <p:sp>
        <p:nvSpPr>
          <p:cNvPr id="18" name="TextBox 17"/>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3A3A3A"/>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11 / VERIFICATION</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52 tests, and what they refuse to stub</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graphicFrame>
        <p:nvGraphicFramePr>
          <p:cNvPr id="5" name="Chart 4"/>
          <p:cNvGraphicFramePr>
            <a:graphicFrameLocks noGrp="1"/>
          </p:cNvGraphicFramePr>
          <p:nvPr/>
        </p:nvGraphicFramePr>
        <p:xfrm>
          <a:off x="777240" y="2212848"/>
          <a:ext cx="5852160" cy="3611880"/>
        </p:xfrm>
        <a:graphic>
          <a:graphicData uri="http://schemas.openxmlformats.org/drawingml/2006/chart">
            <c:chart xmlns:c="http://schemas.openxmlformats.org/drawingml/2006/chart" r:id="rId2"/>
          </a:graphicData>
        </a:graphic>
      </p:graphicFrame>
      <p:sp>
        <p:nvSpPr>
          <p:cNvPr id="6" name="TextBox 5"/>
          <p:cNvSpPr txBox="1"/>
          <p:nvPr/>
        </p:nvSpPr>
        <p:spPr>
          <a:xfrm>
            <a:off x="6858000" y="2212848"/>
            <a:ext cx="4553712" cy="237744"/>
          </a:xfrm>
          <a:prstGeom prst="rect">
            <a:avLst/>
          </a:prstGeom>
          <a:noFill/>
        </p:spPr>
        <p:txBody>
          <a:bodyPr wrap="square" lIns="0" rIns="0" tIns="0" bIns="0" anchor="t">
            <a:spAutoFit/>
          </a:bodyPr>
          <a:lstStyle/>
          <a:p>
            <a:pPr algn="l">
              <a:spcAft>
                <a:spcPts val="0"/>
              </a:spcAft>
            </a:pPr>
            <a:r>
              <a:rPr sz="1100" b="0" spc="90">
                <a:solidFill>
                  <a:srgbClr val="0A0A0A"/>
                </a:solidFill>
                <a:latin typeface="Courier New"/>
              </a:rPr>
              <a:t>SIX SUITES, REAL TOKENS</a:t>
            </a:r>
          </a:p>
        </p:txBody>
      </p:sp>
      <p:sp>
        <p:nvSpPr>
          <p:cNvPr id="7" name="TextBox 6"/>
          <p:cNvSpPr txBox="1"/>
          <p:nvPr/>
        </p:nvSpPr>
        <p:spPr>
          <a:xfrm>
            <a:off x="6858000" y="2487168"/>
            <a:ext cx="4553712" cy="2194560"/>
          </a:xfrm>
          <a:prstGeom prst="rect">
            <a:avLst/>
          </a:prstGeom>
          <a:noFill/>
        </p:spPr>
        <p:txBody>
          <a:bodyPr wrap="square" lIns="0" rIns="0" tIns="0" bIns="0" anchor="t">
            <a:spAutoFit/>
          </a:bodyPr>
          <a:lstStyle/>
          <a:p>
            <a:pPr algn="l">
              <a:lnSpc>
                <a:spcPct val="128000"/>
              </a:lnSpc>
              <a:spcAft>
                <a:spcPts val="500"/>
              </a:spcAft>
            </a:pPr>
            <a:r>
              <a:rPr sz="1250" b="0">
                <a:solidFill>
                  <a:srgbClr val="444444"/>
                </a:solidFill>
                <a:latin typeface="Calibri"/>
              </a:rPr>
              <a:t>They go through the real Spring Security filter chain with real JWTs rather than a stubbed principal, because a stubbed principal tests the assertion and skips the mechanism - and the mechanism is what was broken.</a:t>
            </a:r>
          </a:p>
          <a:p>
            <a:pPr algn="l">
              <a:lnSpc>
                <a:spcPct val="128000"/>
              </a:lnSpc>
              <a:spcAft>
                <a:spcPts val="500"/>
              </a:spcAft>
            </a:pPr>
            <a:r>
              <a:rPr sz="1250" b="0">
                <a:solidFill>
                  <a:srgbClr val="444444"/>
                </a:solidFill>
                <a:latin typeface="Calibri"/>
              </a:rPr>
              <a:t>SchemaConstraintRepairTest has to manufacture the stale constraint by hand: a test schema built from the current annotations is correct by construction, so a test that only ever ran against a fresh database would pass whatever the repair did.</a:t>
            </a:r>
          </a:p>
          <a:p>
            <a:pPr algn="l">
              <a:lnSpc>
                <a:spcPct val="128000"/>
              </a:lnSpc>
              <a:spcAft>
                <a:spcPts val="500"/>
              </a:spcAft>
            </a:pPr>
            <a:r>
              <a:rPr sz="1250" b="0">
                <a:solidFill>
                  <a:srgbClr val="444444"/>
                </a:solidFill>
                <a:latin typeface="Calibri"/>
              </a:rPr>
              <a:t>Alongside them, structural checks over all 146 sources: balanced braces, ASCII-only content, no unused imports, 37 hex values confirmed pure grey, and five FXML files whose every fx:id and handler binds to a real member.</a:t>
            </a:r>
          </a:p>
        </p:txBody>
      </p:sp>
      <p:sp>
        <p:nvSpPr>
          <p:cNvPr id="8" name="TextBox 7"/>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12 / KNOWN LIMITS</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0A0A0A"/>
                </a:solidFill>
                <a:latin typeface="Century Schoolbook"/>
              </a:rPr>
              <a:t>Stated, not hidden</a:t>
            </a:r>
          </a:p>
        </p:txBody>
      </p:sp>
      <p:cxnSp>
        <p:nvCxnSpPr>
          <p:cNvPr id="4" name="Connector 3"/>
          <p:cNvCxnSpPr/>
          <p:nvPr/>
        </p:nvCxnSpPr>
        <p:spPr>
          <a:xfrm>
            <a:off x="777240" y="1938528"/>
            <a:ext cx="10637215" cy="0"/>
          </a:xfrm>
          <a:prstGeom prst="line">
            <a:avLst/>
          </a:prstGeom>
          <a:ln w="9525">
            <a:solidFill>
              <a:srgbClr val="DEDED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212848"/>
            <a:ext cx="5089550" cy="17373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6424" y="2468880"/>
            <a:ext cx="4434840" cy="310896"/>
          </a:xfrm>
          <a:prstGeom prst="rect">
            <a:avLst/>
          </a:prstGeom>
          <a:noFill/>
        </p:spPr>
        <p:txBody>
          <a:bodyPr wrap="square" lIns="0" rIns="0" tIns="0" bIns="0" anchor="t">
            <a:spAutoFit/>
          </a:bodyPr>
          <a:lstStyle/>
          <a:p>
            <a:pPr algn="l">
              <a:spcAft>
                <a:spcPts val="0"/>
              </a:spcAft>
            </a:pPr>
            <a:r>
              <a:rPr sz="1600" b="0">
                <a:solidFill>
                  <a:srgbClr val="0A0A0A"/>
                </a:solidFill>
                <a:latin typeface="Century Schoolbook"/>
              </a:rPr>
              <a:t>ddl-auto=update is not a migration tool</a:t>
            </a:r>
          </a:p>
        </p:txBody>
      </p:sp>
      <p:sp>
        <p:nvSpPr>
          <p:cNvPr id="7" name="TextBox 6"/>
          <p:cNvSpPr txBox="1"/>
          <p:nvPr/>
        </p:nvSpPr>
        <p:spPr>
          <a:xfrm>
            <a:off x="1106424" y="2871215"/>
            <a:ext cx="4434840" cy="914400"/>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It adds what is missing and changes nothing that already exists, so any constraint whose definition moves leaves the database saying one thing and the entity another, with no error until a row falls in the gap. The real answer is Flyway or Liquibase with the current schema captured as a baseline.</a:t>
            </a:r>
          </a:p>
        </p:txBody>
      </p:sp>
      <p:sp>
        <p:nvSpPr>
          <p:cNvPr id="8" name="Rectangle 7"/>
          <p:cNvSpPr/>
          <p:nvPr/>
        </p:nvSpPr>
        <p:spPr>
          <a:xfrm>
            <a:off x="6323990" y="2212848"/>
            <a:ext cx="5089550" cy="17373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53174" y="2468880"/>
            <a:ext cx="4434840" cy="310896"/>
          </a:xfrm>
          <a:prstGeom prst="rect">
            <a:avLst/>
          </a:prstGeom>
          <a:noFill/>
        </p:spPr>
        <p:txBody>
          <a:bodyPr wrap="square" lIns="0" rIns="0" tIns="0" bIns="0" anchor="t">
            <a:spAutoFit/>
          </a:bodyPr>
          <a:lstStyle/>
          <a:p>
            <a:pPr algn="l">
              <a:spcAft>
                <a:spcPts val="0"/>
              </a:spcAft>
            </a:pPr>
            <a:r>
              <a:rPr sz="1600" b="0">
                <a:solidFill>
                  <a:srgbClr val="0A0A0A"/>
                </a:solidFill>
                <a:latin typeface="Century Schoolbook"/>
              </a:rPr>
              <a:t>One timetable race is still open</a:t>
            </a:r>
          </a:p>
        </p:txBody>
      </p:sp>
      <p:sp>
        <p:nvSpPr>
          <p:cNvPr id="10" name="TextBox 9"/>
          <p:cNvSpPr txBox="1"/>
          <p:nvPr/>
        </p:nvSpPr>
        <p:spPr>
          <a:xfrm>
            <a:off x="6653174" y="2871215"/>
            <a:ext cx="4434840" cy="914400"/>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The overlap check reads and then inserts inside one transaction, but at the default isolation level two transactions can still interleave between the check and the commit, and no unique index can express 'these two time ranges overlap'. Closing it needs a database-level exclusion constraint.</a:t>
            </a:r>
          </a:p>
        </p:txBody>
      </p:sp>
      <p:sp>
        <p:nvSpPr>
          <p:cNvPr id="11" name="Rectangle 10"/>
          <p:cNvSpPr/>
          <p:nvPr/>
        </p:nvSpPr>
        <p:spPr>
          <a:xfrm>
            <a:off x="777240" y="4114800"/>
            <a:ext cx="5089550" cy="17373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06424" y="4370832"/>
            <a:ext cx="4434840" cy="310896"/>
          </a:xfrm>
          <a:prstGeom prst="rect">
            <a:avLst/>
          </a:prstGeom>
          <a:noFill/>
        </p:spPr>
        <p:txBody>
          <a:bodyPr wrap="square" lIns="0" rIns="0" tIns="0" bIns="0" anchor="t">
            <a:spAutoFit/>
          </a:bodyPr>
          <a:lstStyle/>
          <a:p>
            <a:pPr algn="l">
              <a:spcAft>
                <a:spcPts val="0"/>
              </a:spcAft>
            </a:pPr>
            <a:r>
              <a:rPr sz="1600" b="0">
                <a:solidFill>
                  <a:srgbClr val="0A0A0A"/>
                </a:solidFill>
                <a:latin typeface="Century Schoolbook"/>
              </a:rPr>
              <a:t>Enrolled faces outlive the student</a:t>
            </a:r>
          </a:p>
        </p:txBody>
      </p:sp>
      <p:sp>
        <p:nvSpPr>
          <p:cNvPr id="13" name="TextBox 12"/>
          <p:cNvSpPr txBox="1"/>
          <p:nvPr/>
        </p:nvSpPr>
        <p:spPr>
          <a:xfrm>
            <a:off x="1106424" y="4773168"/>
            <a:ext cx="4434840" cy="914400"/>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Samples under data/faces are files on disk, not rows, so deleting a student does not remove their biometric samples. That is a data protection question rather than a correctness one, and it is unresolved.</a:t>
            </a:r>
          </a:p>
        </p:txBody>
      </p:sp>
      <p:sp>
        <p:nvSpPr>
          <p:cNvPr id="14" name="Rectangle 13"/>
          <p:cNvSpPr/>
          <p:nvPr/>
        </p:nvSpPr>
        <p:spPr>
          <a:xfrm>
            <a:off x="6323990" y="4114800"/>
            <a:ext cx="5089550" cy="17373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653174" y="4370832"/>
            <a:ext cx="4434840" cy="310896"/>
          </a:xfrm>
          <a:prstGeom prst="rect">
            <a:avLst/>
          </a:prstGeom>
          <a:noFill/>
        </p:spPr>
        <p:txBody>
          <a:bodyPr wrap="square" lIns="0" rIns="0" tIns="0" bIns="0" anchor="t">
            <a:spAutoFit/>
          </a:bodyPr>
          <a:lstStyle/>
          <a:p>
            <a:pPr algn="l">
              <a:spcAft>
                <a:spcPts val="0"/>
              </a:spcAft>
            </a:pPr>
            <a:r>
              <a:rPr sz="1600" b="0">
                <a:solidFill>
                  <a:srgbClr val="0A0A0A"/>
                </a:solidFill>
                <a:latin typeface="Century Schoolbook"/>
              </a:rPr>
              <a:t>A deleted roster row can strand its account</a:t>
            </a:r>
          </a:p>
        </p:txBody>
      </p:sp>
      <p:sp>
        <p:nvSpPr>
          <p:cNvPr id="16" name="TextBox 15"/>
          <p:cNvSpPr txBox="1"/>
          <p:nvPr/>
        </p:nvSpPr>
        <p:spPr>
          <a:xfrm>
            <a:off x="6653174" y="4773168"/>
            <a:ext cx="4434840" cy="914400"/>
          </a:xfrm>
          <a:prstGeom prst="rect">
            <a:avLst/>
          </a:prstGeom>
          <a:noFill/>
        </p:spPr>
        <p:txBody>
          <a:bodyPr wrap="square" lIns="0" rIns="0" tIns="0" bIns="0" anchor="t">
            <a:spAutoFit/>
          </a:bodyPr>
          <a:lstStyle/>
          <a:p>
            <a:pPr algn="l">
              <a:lnSpc>
                <a:spcPct val="124000"/>
              </a:lnSpc>
              <a:spcAft>
                <a:spcPts val="0"/>
              </a:spcAft>
            </a:pPr>
            <a:r>
              <a:rPr sz="1100" b="0">
                <a:solidFill>
                  <a:srgbClr val="444444"/>
                </a:solidFill>
                <a:latin typeface="Calibri"/>
              </a:rPr>
              <a:t>Deleting a student or teacher who has a sign-in account leaves a login with no profile behind it. Refusing the delete is the wrong fix while /auth/users can create, enable, disable and re-role an account but not remove one - refusing would make those rows permanently undeletable.</a:t>
            </a:r>
          </a:p>
        </p:txBody>
      </p:sp>
      <p:sp>
        <p:nvSpPr>
          <p:cNvPr id="17" name="TextBox 16"/>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DEDEDE"/>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spcAft>
                <a:spcPts val="0"/>
              </a:spcAft>
            </a:pPr>
            <a:r>
              <a:rPr sz="1050" b="0" spc="120">
                <a:solidFill>
                  <a:srgbClr val="8A8A8A"/>
                </a:solidFill>
                <a:latin typeface="Courier New"/>
              </a:rPr>
              <a:t>13 / RUN IT</a:t>
            </a:r>
          </a:p>
        </p:txBody>
      </p:sp>
      <p:sp>
        <p:nvSpPr>
          <p:cNvPr id="3" name="TextBox 2"/>
          <p:cNvSpPr txBox="1"/>
          <p:nvPr/>
        </p:nvSpPr>
        <p:spPr>
          <a:xfrm>
            <a:off x="777240" y="896112"/>
            <a:ext cx="10637215" cy="914400"/>
          </a:xfrm>
          <a:prstGeom prst="rect">
            <a:avLst/>
          </a:prstGeom>
          <a:noFill/>
        </p:spPr>
        <p:txBody>
          <a:bodyPr wrap="square" lIns="0" rIns="0" tIns="0" bIns="0" anchor="t">
            <a:spAutoFit/>
          </a:bodyPr>
          <a:lstStyle/>
          <a:p>
            <a:pPr algn="l">
              <a:spcAft>
                <a:spcPts val="0"/>
              </a:spcAft>
            </a:pPr>
            <a:r>
              <a:rPr sz="4000" b="0">
                <a:solidFill>
                  <a:srgbClr val="FFFFFF"/>
                </a:solidFill>
                <a:latin typeface="Century Schoolbook"/>
              </a:rPr>
              <a:t>Two terminals</a:t>
            </a:r>
          </a:p>
        </p:txBody>
      </p:sp>
      <p:cxnSp>
        <p:nvCxnSpPr>
          <p:cNvPr id="4" name="Connector 3"/>
          <p:cNvCxnSpPr/>
          <p:nvPr/>
        </p:nvCxnSpPr>
        <p:spPr>
          <a:xfrm>
            <a:off x="777240" y="1938528"/>
            <a:ext cx="10637215"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777240" y="2240280"/>
            <a:ext cx="5089550" cy="132588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6424" y="2487168"/>
            <a:ext cx="4389120" cy="237744"/>
          </a:xfrm>
          <a:prstGeom prst="rect">
            <a:avLst/>
          </a:prstGeom>
          <a:noFill/>
        </p:spPr>
        <p:txBody>
          <a:bodyPr wrap="square" lIns="0" rIns="0" tIns="0" bIns="0" anchor="t">
            <a:spAutoFit/>
          </a:bodyPr>
          <a:lstStyle/>
          <a:p>
            <a:pPr algn="l">
              <a:spcAft>
                <a:spcPts val="0"/>
              </a:spcAft>
            </a:pPr>
            <a:r>
              <a:rPr sz="950" b="0" spc="100">
                <a:solidFill>
                  <a:srgbClr val="8A8A8A"/>
                </a:solidFill>
                <a:latin typeface="Courier New"/>
              </a:rPr>
              <a:t>BACKEND, PORT 8080</a:t>
            </a:r>
          </a:p>
        </p:txBody>
      </p:sp>
      <p:sp>
        <p:nvSpPr>
          <p:cNvPr id="7" name="TextBox 6"/>
          <p:cNvSpPr txBox="1"/>
          <p:nvPr/>
        </p:nvSpPr>
        <p:spPr>
          <a:xfrm>
            <a:off x="1106424" y="2871216"/>
            <a:ext cx="4389120" cy="384048"/>
          </a:xfrm>
          <a:prstGeom prst="rect">
            <a:avLst/>
          </a:prstGeom>
          <a:noFill/>
        </p:spPr>
        <p:txBody>
          <a:bodyPr wrap="square" lIns="0" rIns="0" tIns="0" bIns="0" anchor="t">
            <a:spAutoFit/>
          </a:bodyPr>
          <a:lstStyle/>
          <a:p>
            <a:pPr algn="l">
              <a:spcAft>
                <a:spcPts val="0"/>
              </a:spcAft>
            </a:pPr>
            <a:r>
              <a:rPr sz="1500" b="0">
                <a:solidFill>
                  <a:srgbClr val="FFFFFF"/>
                </a:solidFill>
                <a:latin typeface="Courier New"/>
              </a:rPr>
              <a:t>mvn spring-boot:run</a:t>
            </a:r>
          </a:p>
        </p:txBody>
      </p:sp>
      <p:sp>
        <p:nvSpPr>
          <p:cNvPr id="8" name="Rectangle 7"/>
          <p:cNvSpPr/>
          <p:nvPr/>
        </p:nvSpPr>
        <p:spPr>
          <a:xfrm>
            <a:off x="6323990" y="2240280"/>
            <a:ext cx="5089550" cy="132588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53174" y="2487168"/>
            <a:ext cx="4389120" cy="237744"/>
          </a:xfrm>
          <a:prstGeom prst="rect">
            <a:avLst/>
          </a:prstGeom>
          <a:noFill/>
        </p:spPr>
        <p:txBody>
          <a:bodyPr wrap="square" lIns="0" rIns="0" tIns="0" bIns="0" anchor="t">
            <a:spAutoFit/>
          </a:bodyPr>
          <a:lstStyle/>
          <a:p>
            <a:pPr algn="l">
              <a:spcAft>
                <a:spcPts val="0"/>
              </a:spcAft>
            </a:pPr>
            <a:r>
              <a:rPr sz="950" b="0" spc="100">
                <a:solidFill>
                  <a:srgbClr val="8A8A8A"/>
                </a:solidFill>
                <a:latin typeface="Courier New"/>
              </a:rPr>
              <a:t>DESKTOP CLIENT</a:t>
            </a:r>
          </a:p>
        </p:txBody>
      </p:sp>
      <p:sp>
        <p:nvSpPr>
          <p:cNvPr id="10" name="TextBox 9"/>
          <p:cNvSpPr txBox="1"/>
          <p:nvPr/>
        </p:nvSpPr>
        <p:spPr>
          <a:xfrm>
            <a:off x="6653174" y="2871216"/>
            <a:ext cx="4389120" cy="384048"/>
          </a:xfrm>
          <a:prstGeom prst="rect">
            <a:avLst/>
          </a:prstGeom>
          <a:noFill/>
        </p:spPr>
        <p:txBody>
          <a:bodyPr wrap="square" lIns="0" rIns="0" tIns="0" bIns="0" anchor="t">
            <a:spAutoFit/>
          </a:bodyPr>
          <a:lstStyle/>
          <a:p>
            <a:pPr algn="l">
              <a:spcAft>
                <a:spcPts val="0"/>
              </a:spcAft>
            </a:pPr>
            <a:r>
              <a:rPr sz="1500" b="0">
                <a:solidFill>
                  <a:srgbClr val="FFFFFF"/>
                </a:solidFill>
                <a:latin typeface="Courier New"/>
              </a:rPr>
              <a:t>mvn clean javafx:run</a:t>
            </a:r>
          </a:p>
        </p:txBody>
      </p:sp>
      <p:sp>
        <p:nvSpPr>
          <p:cNvPr id="11" name="TextBox 10"/>
          <p:cNvSpPr txBox="1"/>
          <p:nvPr/>
        </p:nvSpPr>
        <p:spPr>
          <a:xfrm>
            <a:off x="777240" y="3858768"/>
            <a:ext cx="10607040" cy="237744"/>
          </a:xfrm>
          <a:prstGeom prst="rect">
            <a:avLst/>
          </a:prstGeom>
          <a:noFill/>
        </p:spPr>
        <p:txBody>
          <a:bodyPr wrap="square" lIns="0" rIns="0" tIns="0" bIns="0" anchor="t">
            <a:spAutoFit/>
          </a:bodyPr>
          <a:lstStyle/>
          <a:p>
            <a:pPr algn="l">
              <a:spcAft>
                <a:spcPts val="0"/>
              </a:spcAft>
            </a:pPr>
            <a:r>
              <a:rPr sz="1000" b="0" spc="100">
                <a:solidFill>
                  <a:srgbClr val="FFFFFF"/>
                </a:solidFill>
                <a:latin typeface="Courier New"/>
              </a:rPr>
              <a:t>BEFORE A REAL RUN</a:t>
            </a:r>
          </a:p>
        </p:txBody>
      </p:sp>
      <p:sp>
        <p:nvSpPr>
          <p:cNvPr id="12" name="TextBox 11"/>
          <p:cNvSpPr txBox="1"/>
          <p:nvPr/>
        </p:nvSpPr>
        <p:spPr>
          <a:xfrm>
            <a:off x="777240" y="4187952"/>
            <a:ext cx="10607040" cy="731520"/>
          </a:xfrm>
          <a:prstGeom prst="rect">
            <a:avLst/>
          </a:prstGeom>
          <a:noFill/>
        </p:spPr>
        <p:txBody>
          <a:bodyPr wrap="square" lIns="0" rIns="0" tIns="0" bIns="0" anchor="t">
            <a:spAutoFit/>
          </a:bodyPr>
          <a:lstStyle/>
          <a:p>
            <a:pPr algn="l">
              <a:lnSpc>
                <a:spcPct val="130000"/>
              </a:lnSpc>
              <a:spcAft>
                <a:spcPts val="0"/>
              </a:spcAft>
            </a:pPr>
            <a:r>
              <a:rPr sz="1200" b="0">
                <a:solidFill>
                  <a:srgbClr val="8A8A8A"/>
                </a:solidFill>
                <a:latin typeface="Calibri"/>
              </a:rPr>
              <a:t>Set FRAS_JWT_SECRET to at least 32 characters. Without it the backend generates a random signing key for the process, which is safe but means every token stops working when the server restarts, so everybody signed in is signed out by a restart. FRAS_API_URL overrides where the client looks for the server; it defaults to localhost on 8080.</a:t>
            </a:r>
          </a:p>
        </p:txBody>
      </p:sp>
      <p:cxnSp>
        <p:nvCxnSpPr>
          <p:cNvPr id="13" name="Connector 12"/>
          <p:cNvCxnSpPr/>
          <p:nvPr/>
        </p:nvCxnSpPr>
        <p:spPr>
          <a:xfrm>
            <a:off x="630936" y="5138928"/>
            <a:ext cx="292608"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0936" y="5138928"/>
            <a:ext cx="0" cy="292608"/>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30936" y="6099048"/>
            <a:ext cx="292608"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30936" y="5806440"/>
            <a:ext cx="0" cy="292608"/>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1265407" y="5138928"/>
            <a:ext cx="292608"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58015" y="5138928"/>
            <a:ext cx="0" cy="292608"/>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265407" y="6099048"/>
            <a:ext cx="292608"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1558015" y="5806440"/>
            <a:ext cx="0" cy="292608"/>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60120" y="5358384"/>
            <a:ext cx="10332720" cy="365760"/>
          </a:xfrm>
          <a:prstGeom prst="rect">
            <a:avLst/>
          </a:prstGeom>
          <a:noFill/>
        </p:spPr>
        <p:txBody>
          <a:bodyPr wrap="square" lIns="0" rIns="0" tIns="0" bIns="0" anchor="t">
            <a:spAutoFit/>
          </a:bodyPr>
          <a:lstStyle/>
          <a:p>
            <a:pPr algn="l">
              <a:spcAft>
                <a:spcPts val="0"/>
              </a:spcAft>
            </a:pPr>
            <a:r>
              <a:rPr sz="1900" b="0">
                <a:solidFill>
                  <a:srgbClr val="FFFFFF"/>
                </a:solidFill>
                <a:latin typeface="Century Schoolbook"/>
              </a:rPr>
              <a:t>Compile and test first. Neither needs a database, a camera, or a server.</a:t>
            </a:r>
          </a:p>
        </p:txBody>
      </p:sp>
      <p:sp>
        <p:nvSpPr>
          <p:cNvPr id="22" name="TextBox 21"/>
          <p:cNvSpPr txBox="1"/>
          <p:nvPr/>
        </p:nvSpPr>
        <p:spPr>
          <a:xfrm>
            <a:off x="960120" y="5779008"/>
            <a:ext cx="10332720" cy="274320"/>
          </a:xfrm>
          <a:prstGeom prst="rect">
            <a:avLst/>
          </a:prstGeom>
          <a:noFill/>
        </p:spPr>
        <p:txBody>
          <a:bodyPr wrap="square" lIns="0" rIns="0" tIns="0" bIns="0" anchor="t">
            <a:spAutoFit/>
          </a:bodyPr>
          <a:lstStyle/>
          <a:p>
            <a:pPr algn="l">
              <a:spcAft>
                <a:spcPts val="0"/>
              </a:spcAft>
            </a:pPr>
            <a:r>
              <a:rPr sz="950" b="0">
                <a:solidFill>
                  <a:srgbClr val="8A8A8A"/>
                </a:solidFill>
                <a:latin typeface="Courier New"/>
              </a:rPr>
              <a:t>mvn clean compile   /   mvn test   /   H2 in memory, from src/test/resources/application.properties</a:t>
            </a:r>
          </a:p>
        </p:txBody>
      </p:sp>
      <p:sp>
        <p:nvSpPr>
          <p:cNvPr id="23" name="TextBox 22"/>
          <p:cNvSpPr txBox="1"/>
          <p:nvPr/>
        </p:nvSpPr>
        <p:spPr>
          <a:xfrm>
            <a:off x="10317175" y="6291072"/>
            <a:ext cx="1097280" cy="228600"/>
          </a:xfrm>
          <a:prstGeom prst="rect">
            <a:avLst/>
          </a:prstGeom>
          <a:noFill/>
        </p:spPr>
        <p:txBody>
          <a:bodyPr wrap="square" lIns="0" rIns="0" tIns="0" bIns="0" anchor="t">
            <a:spAutoFit/>
          </a:bodyPr>
          <a:lstStyle/>
          <a:p>
            <a:pPr algn="r">
              <a:spcAft>
                <a:spcPts val="0"/>
              </a:spcAft>
            </a:pPr>
            <a:r>
              <a:rPr sz="950" b="0" spc="100">
                <a:solidFill>
                  <a:srgbClr val="3A3A3A"/>
                </a:solidFill>
                <a:latin typeface="Courier New"/>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