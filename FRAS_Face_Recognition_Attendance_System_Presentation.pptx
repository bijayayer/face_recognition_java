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FRAS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7772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tos"/>
              </a:rPr>
              <a:t>FACE RECOGNITION
ATTENDANCE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67665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C3C3C3"/>
                </a:solidFill>
                <a:latin typeface="Aptos"/>
              </a:rPr>
              <a:t>A Java-based attendance management platform with face recognition, user management, academic setup and reporting.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4160520"/>
            <a:ext cx="3063239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43891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5488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FAFAF"/>
                </a:solidFill>
                <a:latin typeface="Aptos"/>
              </a:rPr>
              <a:t>Bijay Ayer  ·  Sandeep Tamang  ·  Gaurav  ·  Pratik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685800"/>
            <a:ext cx="3063240" cy="5349240"/>
          </a:xfrm>
          <a:prstGeom prst="roundRect">
            <a:avLst/>
          </a:prstGeom>
          <a:solidFill>
            <a:srgbClr val="1C1C1C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078992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Mono"/>
              </a:rPr>
              <a:t>attendance
by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14884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919191"/>
                </a:solidFill>
                <a:latin typeface="Aptos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1214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ENROL A FACE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89720" y="2542032"/>
            <a:ext cx="1828800" cy="0"/>
          </a:xfrm>
          <a:prstGeom prst="line">
            <a:avLst/>
          </a:prstGeom>
          <a:ln w="1016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0" y="320040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919191"/>
                </a:solidFill>
                <a:latin typeface="Aptos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317296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OPEN A SESSION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89720" y="3593592"/>
            <a:ext cx="1828800" cy="0"/>
          </a:xfrm>
          <a:prstGeom prst="line">
            <a:avLst/>
          </a:prstGeom>
          <a:ln w="1016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0" y="425196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919191"/>
                </a:solidFill>
                <a:latin typeface="Aptos Mon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422452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TAKE THE REGISTER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89720" y="4645152"/>
            <a:ext cx="1828800" cy="0"/>
          </a:xfrm>
          <a:prstGeom prst="line">
            <a:avLst/>
          </a:prstGeom>
          <a:ln w="1016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0" y="55778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8C8C8C"/>
                </a:solidFill>
                <a:latin typeface="Aptos Mono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01 ·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21212"/>
                </a:solidFill>
                <a:latin typeface="Aptos"/>
              </a:rPr>
              <a:t>Why FRAS?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96969"/>
                </a:solidFill>
                <a:latin typeface="Aptos"/>
              </a:rPr>
              <a:t>The system addresses the practical problems of manual attendance.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96969"/>
                </a:solidFill>
                <a:latin typeface="Aptos Mono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429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391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21212"/>
                </a:solidFill>
                <a:latin typeface="Aptos"/>
              </a:rPr>
              <a:t>Manual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04872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696969"/>
                </a:solidFill>
                <a:latin typeface="Aptos Mono"/>
              </a:rPr>
              <a:t>PROBLEM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97479"/>
            <a:ext cx="306324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696969"/>
                </a:solidFill>
                <a:latin typeface="Aptos"/>
              </a:rPr>
              <a:t>Taking attendance name-by-name consumes class time and creates repetitive administrative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429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0391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21212"/>
                </a:solidFill>
                <a:latin typeface="Aptos"/>
              </a:rPr>
              <a:t>Human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04872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696969"/>
                </a:solidFill>
                <a:latin typeface="Aptos Mono"/>
              </a:rPr>
              <a:t>PROBLEM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697479"/>
            <a:ext cx="306324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696969"/>
                </a:solidFill>
                <a:latin typeface="Aptos"/>
              </a:rPr>
              <a:t>Paper or manually entered records can contain omissions, duplicates and incorrect entries.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74519"/>
            <a:ext cx="3429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0391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21212"/>
                </a:solidFill>
                <a:latin typeface="Aptos"/>
              </a:rPr>
              <a:t>Weak traceability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404872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696969"/>
                </a:solidFill>
                <a:latin typeface="Aptos Mono"/>
              </a:rPr>
              <a:t>PROBLEM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697479"/>
            <a:ext cx="306324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696969"/>
                </a:solidFill>
                <a:latin typeface="Aptos"/>
              </a:rPr>
              <a:t>Scattered records make attendance history, reporting and later verification harder.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E1E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96969"/>
                </a:solidFill>
                <a:latin typeface="Aptos Mono"/>
              </a:rPr>
              <a:t>FRAS · Face Recognition Attendance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02 ·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21212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96969"/>
                </a:solidFill>
                <a:latin typeface="Aptos"/>
              </a:rPr>
              <a:t>What the project is designed to achieve.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96969"/>
                </a:solidFill>
                <a:latin typeface="Aptos Mono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0156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9339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696969"/>
                </a:solidFill>
                <a:latin typeface="Apto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97510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Automate 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87168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Reduce repetitive manual attendance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0156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9339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696969"/>
                </a:solidFill>
                <a:latin typeface="Apto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197510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Recognize 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87168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Identify registered students through the camera.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828800"/>
            <a:ext cx="340156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199339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696969"/>
                </a:solidFill>
                <a:latin typeface="Aptos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197510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Manage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487168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Keep students, teachers and academic data organized.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340156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867911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696969"/>
                </a:solidFill>
                <a:latin typeface="Aptos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84962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Secure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361688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Use accounts, roles and authenticated requests.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703320"/>
            <a:ext cx="340156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867911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696969"/>
                </a:solidFill>
                <a:latin typeface="Aptos Mon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384962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Generate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361688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Export attendance information for later use.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3703320"/>
            <a:ext cx="340156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7" y="3867911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696969"/>
                </a:solidFill>
                <a:latin typeface="Aptos Mono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384962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Improve usability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361688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Provide one desktop interface for the workflow.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E1E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96969"/>
                </a:solidFill>
                <a:latin typeface="Aptos Mono"/>
              </a:rPr>
              <a:t>FRAS · Face Recognition Attendance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03 ·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21212"/>
                </a:solidFill>
                <a:latin typeface="Aptos"/>
              </a:rP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96969"/>
                </a:solidFill>
                <a:latin typeface="Aptos"/>
              </a:rPr>
              <a:t>A single workflow from enrollment to attendance and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96969"/>
                </a:solidFill>
                <a:latin typeface="Aptos Mono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502920" cy="5029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40280"/>
            <a:ext cx="356616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2121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21212"/>
                </a:solidFill>
                <a:latin typeface="Aptos"/>
              </a:rPr>
              <a:t>Enroll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96969"/>
                </a:solidFill>
                <a:latin typeface="Aptos"/>
              </a:rPr>
              <a:t>Register student + face template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25880" y="2395728"/>
            <a:ext cx="1051560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60320" y="2148840"/>
            <a:ext cx="502920" cy="5029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2240280"/>
            <a:ext cx="356616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21212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788920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21212"/>
                </a:solidFill>
                <a:latin typeface="Aptos"/>
              </a:rPr>
              <a:t>Open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39" y="324612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96969"/>
                </a:solidFill>
                <a:latin typeface="Aptos"/>
              </a:rPr>
              <a:t>Start the classroom camera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2395728"/>
            <a:ext cx="1051560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34840" y="2148840"/>
            <a:ext cx="502920" cy="5029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2240280"/>
            <a:ext cx="356616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21212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788920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21212"/>
                </a:solidFill>
                <a:latin typeface="Aptos"/>
              </a:rPr>
              <a:t>Recognize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324612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96969"/>
                </a:solidFill>
                <a:latin typeface="Aptos"/>
              </a:rPr>
              <a:t>Detect and match registered faces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74920" y="2395728"/>
            <a:ext cx="1051559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9359" y="2148840"/>
            <a:ext cx="502920" cy="5029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240280"/>
            <a:ext cx="356616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21212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788920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21212"/>
                </a:solidFill>
                <a:latin typeface="Aptos"/>
              </a:rPr>
              <a:t>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79" y="324612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96969"/>
                </a:solidFill>
                <a:latin typeface="Aptos"/>
              </a:rPr>
              <a:t>Create the attendance entry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49440" y="2395728"/>
            <a:ext cx="1051560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83879" y="2148840"/>
            <a:ext cx="502920" cy="5029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40280"/>
            <a:ext cx="356616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21212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2788920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21212"/>
                </a:solidFill>
                <a:latin typeface="Aptos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24612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96969"/>
                </a:solidFill>
                <a:latin typeface="Aptos"/>
              </a:rPr>
              <a:t>Read register and history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23959" y="2395728"/>
            <a:ext cx="1051560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058400" y="2148840"/>
            <a:ext cx="502920" cy="5029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31552" y="2240280"/>
            <a:ext cx="356616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21212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788920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21212"/>
                </a:solidFill>
                <a:latin typeface="Aptos"/>
              </a:rPr>
              <a:t>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24612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96969"/>
                </a:solidFill>
                <a:latin typeface="Aptos"/>
              </a:rPr>
              <a:t>Generate PDF / Excel output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709160"/>
            <a:ext cx="10287000" cy="77724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4901184"/>
            <a:ext cx="9829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Camera  →  Face Recognition  →  Student  →  Attendance  →  Database  →  Reports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E1E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96969"/>
                </a:solidFill>
                <a:latin typeface="Aptos Mono"/>
              </a:rPr>
              <a:t>FRAS · Face Recognition Attendance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04 ·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21212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96969"/>
                </a:solidFill>
                <a:latin typeface="Aptos"/>
              </a:rPr>
              <a:t>Technologies visible in the project structure and documented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96969"/>
                </a:solidFill>
                <a:latin typeface="Aptos Mono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4871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05740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49631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96969"/>
                </a:solidFill>
                <a:latin typeface="Aptos"/>
              </a:rPr>
              <a:t>Core application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874519"/>
            <a:ext cx="24871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205740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JavaFX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249631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96969"/>
                </a:solidFill>
                <a:latin typeface="Aptos"/>
              </a:rPr>
              <a:t>Desktop user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874519"/>
            <a:ext cx="24871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05740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Spring Boot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49631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96969"/>
                </a:solidFill>
                <a:latin typeface="Aptos"/>
              </a:rPr>
              <a:t>REST backend / application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89136" y="1874519"/>
            <a:ext cx="24871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205740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OpenCV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2496312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96969"/>
                </a:solidFill>
                <a:latin typeface="Aptos"/>
              </a:rPr>
              <a:t>Camera + face 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39"/>
            <a:ext cx="24871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7033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Hibernate / JPA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142231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96969"/>
                </a:solidFill>
                <a:latin typeface="Aptos"/>
              </a:rPr>
              <a:t>Persistence / 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432" y="3520439"/>
            <a:ext cx="24871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37033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Maven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142231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96969"/>
                </a:solidFill>
                <a:latin typeface="Aptos"/>
              </a:rPr>
              <a:t>Build and dependency management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4" y="3520439"/>
            <a:ext cx="24871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7033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JWT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4142231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96969"/>
                </a:solidFill>
                <a:latin typeface="Aptos"/>
              </a:rPr>
              <a:t>Authentication and authorization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89136" y="3520439"/>
            <a:ext cx="24871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3728" y="37033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H2 / SQL 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4142231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96969"/>
                </a:solidFill>
                <a:latin typeface="Aptos"/>
              </a:rPr>
              <a:t>Application data persistence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E1E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96969"/>
                </a:solidFill>
                <a:latin typeface="Aptos Mono"/>
              </a:rPr>
              <a:t>FRAS · Face Recognition Attendance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05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21212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96969"/>
                </a:solidFill>
                <a:latin typeface="Aptos"/>
              </a:rPr>
              <a:t>The desktop client communicates with a secured backend and persistent data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96969"/>
                </a:solidFill>
                <a:latin typeface="Aptos Mono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7432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696969"/>
                </a:solidFill>
                <a:latin typeface="Aptos Mono"/>
              </a:rPr>
              <a:t>JAVA FX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21212"/>
                </a:solidFill>
                <a:latin typeface="Aptos"/>
              </a:rPr>
              <a:t>• Login &amp;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278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21212"/>
                </a:solidFill>
                <a:latin typeface="Aptos"/>
              </a:rPr>
              <a:t>• Student / teacher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6674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21212"/>
                </a:solidFill>
                <a:latin typeface="Aptos"/>
              </a:rPr>
              <a:t>• Live camera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0565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21212"/>
                </a:solidFill>
                <a:latin typeface="Aptos"/>
              </a:rPr>
              <a:t>• Attendance &amp;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057400"/>
            <a:ext cx="2743200" cy="265176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3317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B4B4B4"/>
                </a:solidFill>
                <a:latin typeface="Aptos Mono"/>
              </a:rPr>
              <a:t>SPRING BOOT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• JWT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278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• REST controllers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66674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• Business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10565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• Access policies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057400"/>
            <a:ext cx="27432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23317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696969"/>
                </a:solidFill>
                <a:latin typeface="Aptos Mono"/>
              </a:rPr>
              <a:t>DATA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21212"/>
                </a:solidFill>
                <a:latin typeface="Aptos"/>
              </a:rPr>
              <a:t>• Students / teachers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2278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21212"/>
                </a:solidFill>
                <a:latin typeface="Aptos"/>
              </a:rPr>
              <a:t>• Academic entities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66674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21212"/>
                </a:solidFill>
                <a:latin typeface="Aptos"/>
              </a:rPr>
              <a:t>• Attendance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10565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21212"/>
                </a:solidFill>
                <a:latin typeface="Aptos"/>
              </a:rPr>
              <a:t>• Face enrollment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74720" y="3383280"/>
            <a:ext cx="1143000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98079" y="3383280"/>
            <a:ext cx="1143001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749039" y="28803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696969"/>
                </a:solidFill>
                <a:latin typeface="Aptos Mono"/>
              </a:rPr>
              <a:t>HTTP / 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88036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696969"/>
                </a:solidFill>
                <a:latin typeface="Aptos Mono"/>
              </a:rPr>
              <a:t>JPA / SQL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E1E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96969"/>
                </a:solidFill>
                <a:latin typeface="Aptos Mono"/>
              </a:rPr>
              <a:t>FRAS · Face Recognition Attendance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06 ·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21212"/>
                </a:solidFill>
                <a:latin typeface="Aptos"/>
              </a:rPr>
              <a:t>Who uses the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96969"/>
                </a:solidFill>
                <a:latin typeface="Aptos"/>
              </a:rPr>
              <a:t>Access is organized around the responsibilities of each user.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96969"/>
                </a:solidFill>
                <a:latin typeface="Aptos Mono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401568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401568" cy="713232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574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Mono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346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1212"/>
                </a:solidFill>
                <a:latin typeface="Aptos"/>
              </a:rPr>
              <a:t>System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40156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• Manage 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77056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• Manage students / teachers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352544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• Configure academic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828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• Administrative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874519"/>
            <a:ext cx="3401568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60" y="1874519"/>
            <a:ext cx="3401568" cy="713232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20574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Mono"/>
              </a:rPr>
              <a:t>TEACHER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8346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1212"/>
                </a:solidFill>
                <a:latin typeface="Aptos"/>
              </a:rPr>
              <a:t>Classroom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40156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• Open attendance sessions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877056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• Use live recognition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4352544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• Review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4828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• Export reports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1874519"/>
            <a:ext cx="3401568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75320" y="1874519"/>
            <a:ext cx="3401568" cy="713232"/>
          </a:xfrm>
          <a:prstGeom prst="roundRect">
            <a:avLst/>
          </a:prstGeom>
          <a:solidFill>
            <a:srgbClr val="202020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6488" y="20574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Mono"/>
              </a:rPr>
              <a:t>STUDENT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28346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1212"/>
                </a:solidFill>
                <a:latin typeface="Aptos"/>
              </a:rPr>
              <a:t>Personal attendance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340156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• Access permitted student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3877056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• View own attendance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352544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96969"/>
                </a:solidFill>
                <a:latin typeface="Aptos"/>
              </a:rPr>
              <a:t>• No administrative controls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E1E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96969"/>
                </a:solidFill>
                <a:latin typeface="Aptos Mono"/>
              </a:rPr>
              <a:t>FRAS · Face Recognition Attendance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07 · FACE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21212"/>
                </a:solidFill>
                <a:latin typeface="Aptos"/>
              </a:rPr>
              <a:t>Face enrollment &amp;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96969"/>
                </a:solidFill>
                <a:latin typeface="Aptos"/>
              </a:rPr>
              <a:t>The recognition workflow is separate from the attendance record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96969"/>
                </a:solidFill>
                <a:latin typeface="Aptos Mono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1554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148840"/>
            <a:ext cx="1408176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21212"/>
                </a:solidFill>
                <a:latin typeface="Aptos"/>
              </a:rPr>
              <a:t>Camera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077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696969"/>
                </a:solidFill>
                <a:latin typeface="Aptos Mono"/>
              </a:rPr>
              <a:t>CAPTURE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76272" y="2395728"/>
            <a:ext cx="265176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96312" y="2057400"/>
            <a:ext cx="1554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9464" y="2148840"/>
            <a:ext cx="1408176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21212"/>
                </a:solidFill>
                <a:latin typeface="Aptos"/>
              </a:rPr>
              <a:t>Face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9077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696969"/>
                </a:solidFill>
                <a:latin typeface="Aptos Mono"/>
              </a:rPr>
              <a:t>LOCATE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78224" y="2395728"/>
            <a:ext cx="265176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98264" y="2057400"/>
            <a:ext cx="1554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2148840"/>
            <a:ext cx="1408176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21212"/>
                </a:solidFill>
                <a:latin typeface="Aptos"/>
              </a:rPr>
              <a:t>Face crop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29077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696969"/>
                </a:solidFill>
                <a:latin typeface="Aptos Mono"/>
              </a:rPr>
              <a:t>PREPARE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0176" y="2395728"/>
            <a:ext cx="265176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0216" y="2057400"/>
            <a:ext cx="1554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148840"/>
            <a:ext cx="1408176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21212"/>
                </a:solidFill>
                <a:latin typeface="Aptos"/>
              </a:rPr>
              <a:t>Face representation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9077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696969"/>
                </a:solidFill>
                <a:latin typeface="Aptos Mono"/>
              </a:rPr>
              <a:t>ENCODE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82128" y="2395728"/>
            <a:ext cx="265176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02168" y="2057400"/>
            <a:ext cx="1554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148840"/>
            <a:ext cx="1408176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21212"/>
                </a:solidFill>
                <a:latin typeface="Aptos"/>
              </a:rPr>
              <a:t>Similarity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29077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696969"/>
                </a:solidFill>
                <a:latin typeface="Aptos Mono"/>
              </a:rPr>
              <a:t>MATCH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84080" y="2395728"/>
            <a:ext cx="265176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04120" y="2057400"/>
            <a:ext cx="1554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2" y="2148840"/>
            <a:ext cx="1408176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21212"/>
                </a:solidFill>
                <a:latin typeface="Aptos"/>
              </a:rPr>
              <a:t>Student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9077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696969"/>
                </a:solidFill>
                <a:latin typeface="Aptos Mono"/>
              </a:rPr>
              <a:t>IDENTIFY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3886200"/>
            <a:ext cx="10058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41605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21212"/>
                </a:solidFill>
                <a:latin typeface="Aptos"/>
              </a:rPr>
              <a:t>Recognition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087368"/>
            <a:ext cx="7635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  <a:latin typeface="Aptos"/>
              </a:rPr>
              <a:t>Known face  →  identify student  →  attendance can be recorded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498848"/>
            <a:ext cx="7635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96969"/>
                </a:solidFill>
                <a:latin typeface="Aptos"/>
              </a:rPr>
              <a:t>Unknown face  →  no student match  →  do not attribute attendance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E1E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96969"/>
                </a:solidFill>
                <a:latin typeface="Aptos Mono"/>
              </a:rPr>
              <a:t>FRAS · Face Recognition Attendance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08 · ATTENDANCE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21212"/>
                </a:solidFill>
                <a:latin typeface="Aptos"/>
              </a:rPr>
              <a:t>Attendance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96969"/>
                </a:solidFill>
                <a:latin typeface="Aptos"/>
              </a:rPr>
              <a:t>A clear separation between recognition and recording keeps the process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96969"/>
                </a:solidFill>
                <a:latin typeface="Aptos Mono"/>
              </a:rPr>
              <a:t>09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1051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Teacher signs 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94760" y="2084832"/>
            <a:ext cx="548640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78992" y="2423160"/>
            <a:ext cx="0" cy="82296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526280" y="1828800"/>
            <a:ext cx="502920" cy="502920"/>
          </a:xfrm>
          <a:prstGeom prst="ellipse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 Mon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81051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Select / open session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79" y="2084832"/>
            <a:ext cx="548641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82312" y="2423160"/>
            <a:ext cx="0" cy="82296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229600" y="1828800"/>
            <a:ext cx="502920" cy="502920"/>
          </a:xfrm>
          <a:prstGeom prst="ellipse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81051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Camera scans classroom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85632" y="2423160"/>
            <a:ext cx="0" cy="82296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" y="3703320"/>
            <a:ext cx="502920" cy="502920"/>
          </a:xfrm>
          <a:prstGeom prst="ellipse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794759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6850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Recognize registered face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94760" y="3959352"/>
            <a:ext cx="548640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526280" y="3703320"/>
            <a:ext cx="502920" cy="502920"/>
          </a:xfrm>
          <a:prstGeom prst="ellipse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794759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 Mon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6850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Record attendance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98079" y="3959352"/>
            <a:ext cx="548641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229600" y="3703320"/>
            <a:ext cx="502920" cy="502920"/>
          </a:xfrm>
          <a:prstGeom prst="ellipse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794759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 Mono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6850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1212"/>
                </a:solidFill>
                <a:latin typeface="Aptos"/>
              </a:rPr>
              <a:t>Review register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E1E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96969"/>
                </a:solidFill>
                <a:latin typeface="Aptos Mono"/>
              </a:rPr>
              <a:t>FRAS · Face Recognition Attendance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09 ·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21212"/>
                </a:solidFill>
                <a:latin typeface="Aptos"/>
              </a:rPr>
              <a:t>Application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96969"/>
                </a:solidFill>
                <a:latin typeface="Aptos"/>
              </a:rPr>
              <a:t>The UI follows a restrained monochrome design so hierarchy comes from spacing, weight and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96969"/>
                </a:solidFill>
                <a:latin typeface="Aptos Mono"/>
              </a:rPr>
              <a:t>10</a:t>
            </a:r>
          </a:p>
        </p:txBody>
      </p:sp>
      <p:pic>
        <p:nvPicPr>
          <p:cNvPr id="6" name="Picture 5" descr="fras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440680" cy="3533254"/>
          </a:xfrm>
          <a:prstGeom prst="rect">
            <a:avLst/>
          </a:prstGeom>
        </p:spPr>
      </p:pic>
      <p:pic>
        <p:nvPicPr>
          <p:cNvPr id="7" name="Picture 6" descr="fras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5166360" cy="33551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80644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696969"/>
                </a:solidFill>
                <a:latin typeface="Aptos Mono"/>
              </a:rP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580644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696969"/>
                </a:solidFill>
                <a:latin typeface="Aptos Mono"/>
              </a:rPr>
              <a:t>STUDENT ROSTER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E1E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96969"/>
                </a:solidFill>
                <a:latin typeface="Aptos Mono"/>
              </a:rPr>
              <a:t>FRAS · Face Recognition Attendance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10 ·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21212"/>
                </a:solidFill>
                <a:latin typeface="Aptos"/>
              </a:rPr>
              <a:t>Student, teacher &amp; account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96969"/>
                </a:solidFill>
                <a:latin typeface="Aptos"/>
              </a:rPr>
              <a:t>Administrative screens support the roster and account lifecycle around attendance.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96969"/>
                </a:solidFill>
                <a:latin typeface="Aptos Mono"/>
              </a:rPr>
              <a:t>11</a:t>
            </a:r>
          </a:p>
        </p:txBody>
      </p:sp>
      <p:pic>
        <p:nvPicPr>
          <p:cNvPr id="6" name="Picture 5" descr="fra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6400800" cy="4156770"/>
          </a:xfrm>
          <a:prstGeom prst="rect">
            <a:avLst/>
          </a:prstGeom>
        </p:spPr>
      </p:pic>
      <p:pic>
        <p:nvPicPr>
          <p:cNvPr id="7" name="Picture 6" descr="fras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74519"/>
            <a:ext cx="4160520" cy="2701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7150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21212"/>
                </a:solidFill>
                <a:latin typeface="Aptos"/>
              </a:rPr>
              <a:t>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566928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96969"/>
                </a:solidFill>
                <a:latin typeface="Aptos"/>
              </a:rPr>
              <a:t>Roster fields include ID, name, email, section, age and account 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57150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21212"/>
                </a:solidFill>
                <a:latin typeface="Aptos"/>
              </a:rPr>
              <a:t>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6692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96969"/>
                </a:solidFill>
                <a:latin typeface="Aptos"/>
              </a:rPr>
              <a:t>Role-aware account controls and password management.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E1E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96969"/>
                </a:solidFill>
                <a:latin typeface="Aptos Mono"/>
              </a:rPr>
              <a:t>FRAS · Face Recognition Attendance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11 ·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21212"/>
                </a:solidFill>
                <a:latin typeface="Aptos"/>
              </a:rPr>
              <a:t>Database &amp; domain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96969"/>
                </a:solidFill>
                <a:latin typeface="Aptos"/>
              </a:rPr>
              <a:t>The system connects people, academic structure and attendance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96969"/>
                </a:solidFill>
                <a:latin typeface="Aptos Mono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5798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21212"/>
                </a:solidFill>
                <a:latin typeface="Aptos"/>
              </a:rPr>
              <a:t>Student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8620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2394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21212"/>
                </a:solidFill>
                <a:latin typeface="Aptos"/>
              </a:rPr>
              <a:t>Teacher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14300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38074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21212"/>
                </a:solidFill>
                <a:latin typeface="Aptos"/>
              </a:rPr>
              <a:t>Department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42316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66090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21212"/>
                </a:solidFill>
                <a:latin typeface="Aptos"/>
              </a:rPr>
              <a:t>Semester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370332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3941063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21212"/>
                </a:solidFill>
                <a:latin typeface="Aptos"/>
              </a:rPr>
              <a:t>Subject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498348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522122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21212"/>
                </a:solidFill>
                <a:latin typeface="Aptos"/>
              </a:rPr>
              <a:t>Classroom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2971800"/>
            <a:ext cx="20574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20954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21212"/>
                </a:solidFill>
                <a:latin typeface="Aptos"/>
              </a:rPr>
              <a:t>Attendance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2971800"/>
            <a:ext cx="20574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320954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21212"/>
                </a:solidFill>
                <a:latin typeface="Aptos"/>
              </a:rPr>
              <a:t>Timetable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80360" y="2331720"/>
            <a:ext cx="777240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80360" y="4297680"/>
            <a:ext cx="777240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15000" y="1554480"/>
            <a:ext cx="914400" cy="182880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15000" y="2834640"/>
            <a:ext cx="914400" cy="54864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715000" y="3383280"/>
            <a:ext cx="914400" cy="73152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715000" y="3383280"/>
            <a:ext cx="914400" cy="201168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23960" y="3383280"/>
            <a:ext cx="731520" cy="0"/>
          </a:xfrm>
          <a:prstGeom prst="line">
            <a:avLst/>
          </a:prstGeom>
          <a:ln w="1651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868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96969"/>
                </a:solidFill>
                <a:latin typeface="Aptos Mono"/>
              </a:rPr>
              <a:t>Conceptual view — exact relationships are implemented through the project's entity/repository layer.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E1E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96969"/>
                </a:solidFill>
                <a:latin typeface="Aptos Mono"/>
              </a:rPr>
              <a:t>FRAS · Face Recognition Attendance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12 ·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21212"/>
                </a:solidFill>
                <a:latin typeface="Aptos"/>
              </a:rPr>
              <a:t>Authentication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96969"/>
                </a:solidFill>
                <a:latin typeface="Aptos"/>
              </a:rPr>
              <a:t>Security is part of the application boundary, not only a UI feature.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96969"/>
                </a:solidFill>
                <a:latin typeface="Aptos Mono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  <a:latin typeface="Aptos"/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901952"/>
            <a:ext cx="8138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696969"/>
                </a:solidFill>
                <a:latin typeface="Aptos"/>
              </a:rPr>
              <a:t>JWT-based sign-in keeps protected API requests tied to an authenticated account.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62072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02666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  <a:latin typeface="Aptos"/>
              </a:rPr>
              <a:t>Authorization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980944"/>
            <a:ext cx="8138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696969"/>
                </a:solidFill>
                <a:latin typeface="Aptos"/>
              </a:rPr>
              <a:t>Role and ownership checks control which records an account can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41063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05655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  <a:latin typeface="Aptos"/>
              </a:rPr>
              <a:t>Registration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059935"/>
            <a:ext cx="8138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696969"/>
                </a:solidFill>
                <a:latin typeface="Aptos"/>
              </a:rPr>
              <a:t>Privileged roles require server-side approval through a registration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0056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846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  <a:latin typeface="Aptos"/>
              </a:rPr>
              <a:t>Data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138928"/>
            <a:ext cx="8138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696969"/>
                </a:solidFill>
                <a:latin typeface="Aptos"/>
              </a:rPr>
              <a:t>Attendance access is checked against the requested student rather than trusting the URL alone.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E1E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96969"/>
                </a:solidFill>
                <a:latin typeface="Aptos Mono"/>
              </a:rPr>
              <a:t>FRAS · Face Recognition Attendance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13 ·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21212"/>
                </a:solidFill>
                <a:latin typeface="Aptos"/>
              </a:rPr>
              <a:t>Attendance register &amp; exports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96969"/>
                </a:solidFill>
                <a:latin typeface="Aptos"/>
              </a:rPr>
              <a:t>The register is designed to be readable by people, not just by the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96969"/>
                </a:solidFill>
                <a:latin typeface="Aptos Mono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375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21212"/>
                </a:solidFill>
                <a:latin typeface="Aptos"/>
              </a:rPr>
              <a:t>Readable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59152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696969"/>
                </a:solidFill>
                <a:latin typeface="Aptos Mono"/>
              </a:rP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51760"/>
            <a:ext cx="2971800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696969"/>
                </a:solidFill>
                <a:latin typeface="Aptos"/>
              </a:rPr>
              <a:t>Student, subject and classroom are resolved into meaningful names rather than raw database 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375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99339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21212"/>
                </a:solidFill>
                <a:latin typeface="Aptos"/>
              </a:rPr>
              <a:t>Complete session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359152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696969"/>
                </a:solidFill>
                <a:latin typeface="Aptos Mono"/>
              </a:rPr>
              <a:t>PDF /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651760"/>
            <a:ext cx="2971800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696969"/>
                </a:solidFill>
                <a:latin typeface="Aptos"/>
              </a:rPr>
              <a:t>Exports represent students in the roster, including students who were not marked present.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3375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99339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21212"/>
                </a:solidFill>
                <a:latin typeface="Aptos"/>
              </a:rPr>
              <a:t>Portable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359152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696969"/>
                </a:solidFill>
                <a:latin typeface="Aptos Mono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651760"/>
            <a:ext cx="2971800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696969"/>
                </a:solidFill>
                <a:latin typeface="Aptos"/>
              </a:rPr>
              <a:t>PDF and Excel outputs make attendance easier to share, print and archive.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E1E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96969"/>
                </a:solidFill>
                <a:latin typeface="Aptos Mono"/>
              </a:rPr>
              <a:t>FRAS · Face Recognition Attendance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14 ·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21212"/>
                </a:solidFill>
                <a:latin typeface="Aptos"/>
              </a:rPr>
              <a:t>Testing &amp; 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96969"/>
                </a:solidFill>
                <a:latin typeface="Aptos"/>
              </a:rPr>
              <a:t>The repository documents integration tests and structural checks around critical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96969"/>
                </a:solidFill>
                <a:latin typeface="Aptos Mono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121212"/>
                </a:solidFill>
                <a:latin typeface="Aptos Mono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121212"/>
                </a:solidFill>
                <a:latin typeface="Aptos"/>
              </a:rPr>
              <a:t>integration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2724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96969"/>
                </a:solidFill>
                <a:latin typeface="Aptos"/>
              </a:rPr>
              <a:t>Across six test suites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82880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210312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121212"/>
                </a:solidFill>
                <a:latin typeface="Aptos Mono"/>
              </a:rPr>
              <a:t>146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72491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121212"/>
                </a:solidFill>
                <a:latin typeface="Aptos"/>
              </a:rPr>
              <a:t>Java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312724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96969"/>
                </a:solidFill>
                <a:latin typeface="Aptos"/>
              </a:rPr>
              <a:t>Structural checks applied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82880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210312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121212"/>
                </a:solidFill>
                <a:latin typeface="Aptos Mon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72491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121212"/>
                </a:solidFill>
                <a:latin typeface="Aptos"/>
              </a:rPr>
              <a:t>FXML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312724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96969"/>
                </a:solidFill>
                <a:latin typeface="Aptos"/>
              </a:rPr>
              <a:t>Parsing + controller binding checked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4856" y="182880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7736" y="210312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121212"/>
                </a:solidFill>
                <a:latin typeface="Aptos Mono"/>
              </a:rPr>
              <a:t>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272491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121212"/>
                </a:solidFill>
                <a:latin typeface="Aptos"/>
              </a:rPr>
              <a:t>stylesheet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312724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96969"/>
                </a:solidFill>
                <a:latin typeface="Aptos"/>
              </a:rPr>
              <a:t>Confirmed as grayscale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160520"/>
            <a:ext cx="10561320" cy="9144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370832"/>
            <a:ext cx="10012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Important limitation: source-level / structural verification is not the same as a successful build or real-world accuracy benchmark.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E1E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96969"/>
                </a:solidFill>
                <a:latin typeface="Aptos Mono"/>
              </a:rPr>
              <a:t>FRAS · Face Recognition Attendance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15 ·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21212"/>
                </a:solidFill>
                <a:latin typeface="Aptos"/>
              </a:rPr>
              <a:t>Key problems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96969"/>
                </a:solidFill>
                <a:latin typeface="Aptos"/>
              </a:rPr>
              <a:t>The project evolved through debugging beyond the basic feature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96969"/>
                </a:solidFill>
                <a:latin typeface="Aptos Mono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47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  <a:latin typeface="Aptos"/>
              </a:rPr>
              <a:t>Security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892807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96969"/>
                </a:solidFill>
                <a:latin typeface="Aptos"/>
              </a:rPr>
              <a:t>Restricted attendance access to the correct student/account.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47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  <a:latin typeface="Aptos"/>
              </a:rPr>
              <a:t>Role escalation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92807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96969"/>
                </a:solidFill>
                <a:latin typeface="Aptos"/>
              </a:rPr>
              <a:t>Stopped public registration from creating privileged accounts.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0040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6499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  <a:latin typeface="Aptos"/>
              </a:rPr>
              <a:t>Data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310128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96969"/>
                </a:solidFill>
                <a:latin typeface="Aptos"/>
              </a:rPr>
              <a:t>Added protections around deletes and stale database constraints.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6499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  <a:latin typeface="Aptos"/>
              </a:rPr>
              <a:t>Concurrency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310128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96969"/>
                </a:solidFill>
                <a:latin typeface="Aptos"/>
              </a:rPr>
              <a:t>Moved timetable overlap enforcement to the backend.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1772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823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  <a:latin typeface="Aptos"/>
              </a:rPr>
              <a:t>Camera stability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727448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96969"/>
                </a:solidFill>
                <a:latin typeface="Aptos"/>
              </a:rPr>
              <a:t>Prevented native camera lifetime races that could crash the JVM.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61772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7823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  <a:latin typeface="Aptos"/>
              </a:rPr>
              <a:t>Resource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727448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96969"/>
                </a:solidFill>
                <a:latin typeface="Aptos"/>
              </a:rPr>
              <a:t>Reduced face-pipeline/native-resource leaks and repeated model loading.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E1E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96969"/>
                </a:solidFill>
                <a:latin typeface="Aptos Mono"/>
              </a:rPr>
              <a:t>FRAS · Face Recognition Attendance 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16 · REALITY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21212"/>
                </a:solidFill>
                <a:latin typeface="Aptos"/>
              </a:rPr>
              <a:t>Limitations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96969"/>
                </a:solidFill>
                <a:latin typeface="Aptos"/>
              </a:rPr>
              <a:t>A good project presentation should clearly distinguish current capability from future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96969"/>
                </a:solidFill>
                <a:latin typeface="Aptos Mono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257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6969"/>
                </a:solidFill>
                <a:latin typeface="Aptos Mono"/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21212"/>
                </a:solidFill>
                <a:latin typeface="Aptos"/>
              </a:defRPr>
            </a:pPr>
            <a:r>
              <a:t>•  Recognition can be affected by lighting and camera quality.</a:t>
            </a:r>
          </a:p>
          <a:p>
            <a:pPr>
              <a:spcAft>
                <a:spcPts val="900"/>
              </a:spcAft>
              <a:defRPr sz="1250">
                <a:solidFill>
                  <a:srgbClr val="121212"/>
                </a:solidFill>
                <a:latin typeface="Aptos"/>
              </a:defRPr>
            </a:pPr>
            <a:r>
              <a:t>•  Face angle and registration quality can affect matching.</a:t>
            </a:r>
          </a:p>
          <a:p>
            <a:pPr>
              <a:spcAft>
                <a:spcPts val="900"/>
              </a:spcAft>
              <a:defRPr sz="1250">
                <a:solidFill>
                  <a:srgbClr val="121212"/>
                </a:solidFill>
                <a:latin typeface="Aptos"/>
              </a:defRPr>
            </a:pPr>
            <a:r>
              <a:t>•  Desktop deployment requires the backend and JavaFX client workflow.</a:t>
            </a:r>
          </a:p>
          <a:p>
            <a:pPr>
              <a:spcAft>
                <a:spcPts val="900"/>
              </a:spcAft>
              <a:defRPr sz="1250">
                <a:solidFill>
                  <a:srgbClr val="121212"/>
                </a:solidFill>
                <a:latin typeface="Aptos"/>
              </a:defRPr>
            </a:pPr>
            <a:r>
              <a:t>•  No claim of 100% recognition accuracy without a controlled benchmark.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257800" cy="416052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FAFAF"/>
                </a:solidFill>
                <a:latin typeface="Aptos Mono"/>
              </a:rPr>
              <a:t>FUTURE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2121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Liveness / anti-spoofing support.</a:t>
            </a:r>
          </a:p>
          <a:p>
            <a:pPr>
              <a:spcAft>
                <a:spcPts val="900"/>
              </a:spcAft>
              <a:defRPr sz="1250">
                <a:solidFill>
                  <a:srgbClr val="12121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Better performance under difficult lighting and angles.</a:t>
            </a:r>
          </a:p>
          <a:p>
            <a:pPr>
              <a:spcAft>
                <a:spcPts val="900"/>
              </a:spcAft>
              <a:defRPr sz="1250">
                <a:solidFill>
                  <a:srgbClr val="12121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Multi-camera and multi-classroom deployment.</a:t>
            </a:r>
          </a:p>
          <a:p>
            <a:pPr>
              <a:spcAft>
                <a:spcPts val="900"/>
              </a:spcAft>
              <a:defRPr sz="1250">
                <a:solidFill>
                  <a:srgbClr val="12121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Web/mobile administration and centralized deployment.</a:t>
            </a:r>
          </a:p>
          <a:p>
            <a:pPr>
              <a:spcAft>
                <a:spcPts val="900"/>
              </a:spcAft>
              <a:defRPr sz="1250">
                <a:solidFill>
                  <a:srgbClr val="12121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Attendance analytics and notifications.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E1E1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96969"/>
                </a:solidFill>
                <a:latin typeface="Aptos Mono"/>
              </a:rPr>
              <a:t>FRAS · Face Recognition Attendance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FRAS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80467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From manual attendance
to recognition-assisted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06324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BEBEBE"/>
                </a:solidFill>
                <a:latin typeface="Aptos"/>
              </a:rPr>
              <a:t>A Java-based system combining face recognition, classroom management, authentication, attendance tracking and reporting.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4160520"/>
            <a:ext cx="317296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44348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Mono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4632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Questions &amp; Live Demonstration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960120"/>
            <a:ext cx="2834640" cy="4526280"/>
          </a:xfrm>
          <a:prstGeom prst="roundRect">
            <a:avLst/>
          </a:prstGeom>
          <a:solidFill>
            <a:srgbClr val="1C1C1C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14173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A5A5A5"/>
                </a:solidFill>
                <a:latin typeface="Aptos Mono"/>
              </a:rPr>
              <a:t>LIVE SESSION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057400"/>
            <a:ext cx="2103120" cy="438912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1671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Camera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2715768"/>
            <a:ext cx="2103120" cy="438912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825496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Face detected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374136"/>
            <a:ext cx="2103120" cy="438912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3483864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Student matched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4032504"/>
            <a:ext cx="2103120" cy="438912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414223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Attendance recorded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